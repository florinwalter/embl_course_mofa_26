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63" r:id="rId4"/>
    <p:sldId id="264" r:id="rId5"/>
    <p:sldId id="265" r:id="rId6"/>
    <p:sldId id="292" r:id="rId7"/>
    <p:sldId id="267" r:id="rId8"/>
    <p:sldId id="259" r:id="rId9"/>
    <p:sldId id="268" r:id="rId10"/>
    <p:sldId id="293" r:id="rId11"/>
    <p:sldId id="294" r:id="rId12"/>
    <p:sldId id="271" r:id="rId13"/>
    <p:sldId id="296" r:id="rId14"/>
    <p:sldId id="272" r:id="rId15"/>
    <p:sldId id="273" r:id="rId16"/>
    <p:sldId id="295" r:id="rId17"/>
    <p:sldId id="280" r:id="rId18"/>
    <p:sldId id="281" r:id="rId19"/>
    <p:sldId id="284" r:id="rId20"/>
    <p:sldId id="282" r:id="rId21"/>
    <p:sldId id="283" r:id="rId2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4"/>
    <p:restoredTop sz="94720"/>
  </p:normalViewPr>
  <p:slideViewPr>
    <p:cSldViewPr snapToGrid="0">
      <p:cViewPr varScale="1">
        <p:scale>
          <a:sx n="207" d="100"/>
          <a:sy n="207" d="100"/>
        </p:scale>
        <p:origin x="12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5C662-2863-7149-ABCA-B2BE13B6142F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AB8C5-B5A0-6142-A705-E0D16215C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929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FAB8C5-B5A0-6142-A705-E0D16215C79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53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0E181-53EA-A22D-F50B-515DDB626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938EC-D5F7-1FA9-DC27-2CA9BDBB0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98452-9403-B817-A574-96CB0D91B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92FE7-8201-DEDE-E255-B3C542CAB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FAB8C5-B5A0-6142-A705-E0D16215C79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14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6E95A-1CC2-1D75-42C9-94595375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C894B-7C63-BC4E-0DDB-F71982CB3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31BCF-0B4E-23FA-A253-4981107E3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1625C-6C68-AF89-9A43-A8E1B3D5A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FAB8C5-B5A0-6142-A705-E0D16215C79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95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28355-E58B-42A0-1AB4-ACC10EC3F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87CED-AF27-EF34-A7F4-6E70A7ADD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936B3-799E-390F-7A65-69D2E1180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20D9-AF0B-5C41-8F77-057BA70C6078}" type="datetime1">
              <a:rPr lang="de-DE" smtClean="0"/>
              <a:t>06.05.26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2E8D-4620-069F-F83C-38CDD7CBF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15EAF-E459-5730-B109-2CEB0666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08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D26A-7E2A-9764-55E3-6A6B42724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9C32B-DC77-1946-9653-6C80135FA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E7B93-C47D-621E-4BDD-E0214457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03B7-88CB-234C-9BEB-EF68218ADE02}" type="datetime1">
              <a:rPr lang="de-DE" smtClean="0"/>
              <a:t>06.05.26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40029-7995-AF16-95B3-B2FD5A83F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27978-7253-CE2D-A8A7-834CED3C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8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9480-4EA5-B72D-3B08-B9883DBCC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C6068-5AF3-75D6-68A4-2B7BA6FB3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4CDDA-3D79-510B-3982-5095BA56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0A60-7274-D949-916A-67ED1FB1DA3A}" type="datetime1">
              <a:rPr lang="de-DE" smtClean="0"/>
              <a:t>06.05.26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550C5-B203-497D-BDEC-CE33ADB52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26FD1-BECB-54A4-C136-1CC7EC006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1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8393-2136-D77E-734A-348D6BACE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225FF-1BC9-20ED-6652-63756503F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38FA3-9863-9E49-2026-559C360B0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2841B-561B-6464-69A5-41AB8B5BF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BD11-2867-2B43-AB6C-D949C19D7A1F}" type="datetime1">
              <a:rPr lang="de-DE" smtClean="0"/>
              <a:t>06.05.26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894D8-D3B8-1FD0-BB9E-792947B8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A8125-61A6-A5D4-8020-C9F7B822E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59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765C8-F613-DF64-F48A-327C35E9D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FA523-3B8D-BFD1-4489-164CA037D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EB41E-2685-D375-EF9D-F902ED20B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EAF607-4E9D-1353-DA9B-85977C83D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564574-616A-D85E-856F-2342C2AA7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B0E78F-C226-A33A-844B-449883B3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E4588-9480-C141-8D27-2C26CE2F2111}" type="datetime1">
              <a:rPr lang="de-DE" smtClean="0"/>
              <a:t>06.05.26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545196-2E7C-E8A2-1673-88562D83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A0656-CE37-FDC3-D156-6B22994A0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70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E5E2-8E89-46C8-1B47-18037481E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EE61DB-1F55-9C3D-8C8E-82496DBF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F33C-61C5-904B-A4B2-19A53024067D}" type="datetime1">
              <a:rPr lang="de-DE" smtClean="0"/>
              <a:t>06.05.26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E8838A-4FDE-3C0F-F287-523FE91F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354B9-30DA-2484-13EA-4DDF3684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1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DD6350-F99B-3276-D192-310AA8DA3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3E339-03A7-3744-B06A-12B278E368DC}" type="datetime1">
              <a:rPr lang="de-DE" smtClean="0"/>
              <a:t>06.05.26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9E1884-1E1F-E1DF-2955-C1DC505B4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A3747-42C5-866E-82B0-4CE40C43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9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00228-30F0-9854-D0FF-7A5E674B6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B9C3-0167-5365-C102-BEC9BA6C2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4C14E-C4F6-F5D2-538B-80CB51F63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B4DB5-0DE2-F0FA-9E5A-3BAC22D5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C1DA0-6012-244F-8E1E-303C0F5848CB}" type="datetime1">
              <a:rPr lang="de-DE" smtClean="0"/>
              <a:t>06.05.26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65306-A7CC-3BCC-D066-DF534F9C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780A6-48C0-DA17-063D-313F2A06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87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D1F1-5C50-9011-7064-82D41F82D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5F97D-B907-95D4-D6A5-289BA1142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885C8-BD17-4112-C8F8-A48EE245F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3934F-B8C4-7E37-FD94-69D91F20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7AB37-F0AE-524F-832B-1EE930F79C35}" type="datetime1">
              <a:rPr lang="de-DE" smtClean="0"/>
              <a:t>06.05.26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47227-C4FD-2297-362B-382286B5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F9085-AAA6-0391-5B22-B43D3D01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1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517E-C506-5DBF-B2A3-ED5EC9AC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812B2-09FF-23FD-8B6E-0ACF0CB1E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6A827-003B-1EA5-54B2-F822D2BB0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D6751-24BC-324E-AA1D-B49C00E27E92}" type="datetime1">
              <a:rPr lang="de-DE" smtClean="0"/>
              <a:t>06.05.26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C6DDA-8077-7B9C-E829-B3FE57CB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F96CD-0D16-45B8-881B-21FDF517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83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6EF95E-0CB2-4B99-E8CF-251C7CDAC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03142-044B-0FA7-4985-1EB546902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8AF0C-5ED3-C560-FF89-CEAD27F4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F483-A0C4-F549-8954-6173CAB5179B}" type="datetime1">
              <a:rPr lang="de-DE" smtClean="0"/>
              <a:t>06.05.26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32CDB-97C5-992D-8002-3DEF8DF55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A3929-4F88-B62A-6FA5-636429D1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14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05C132-D445-7290-BA0D-0CE5C21D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9E93B-FB2A-F985-7DB7-27975A7D1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EAA33-8C6E-F428-0D80-8E730E33F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0F54C-AF83-4D4B-AD30-5C009527964C}" type="datetime1">
              <a:rPr lang="de-DE" smtClean="0"/>
              <a:t>06.05.26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42636-97B1-C898-5832-253CD42F6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755EA-701B-0102-2315-EDB610746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3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nndata.readthedocs.io/" TargetMode="Externa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anpy.readthedocs.io/en/1.10.x/api/reading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93B3-B0C1-9619-5033-5FC19E8F99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noProof="1"/>
              <a:t>Practical Session: MOFA Data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8A8D9-6328-4443-D87F-3FFA5AC343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1"/>
              <a:t>EMBL Course</a:t>
            </a:r>
          </a:p>
          <a:p>
            <a:r>
              <a:rPr lang="en-GB" noProof="1"/>
              <a:t>Analysis and Integration of Transcriptome and Proteome Data</a:t>
            </a:r>
          </a:p>
        </p:txBody>
      </p:sp>
    </p:spTree>
    <p:extLst>
      <p:ext uri="{BB962C8B-B14F-4D97-AF65-F5344CB8AC3E}">
        <p14:creationId xmlns:p14="http://schemas.microsoft.com/office/powerpoint/2010/main" val="234828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3D728-2C59-FF41-E7A0-28F313B27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7D4BF-5853-73D1-4C87-15CF3274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Data Handling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82955-7FAE-F0C8-B69A-259524F33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1"/>
              <a:t>AnnData, MuData, and the CLL data set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2F7F9-40C0-E8B8-74F6-B32733363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16AC-2982-C44D-A3E6-FA686AA382A6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B496E-19B0-C7DB-7B08-F00116B2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843476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C0260C-0A86-B98E-F48A-CC7D35DA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From the Sequencing Machine to Count Matrices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8599CE-7799-CF6C-53D3-B94DFA02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E7759-0378-9945-B087-9DFA01C48CF4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82B98-7248-8428-274B-CCEF814B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2</a:t>
            </a:fld>
            <a:endParaRPr lang="en-GB" noProof="1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533F819-91D1-779F-EA51-EE3B9A07B4C2}"/>
              </a:ext>
            </a:extLst>
          </p:cNvPr>
          <p:cNvSpPr/>
          <p:nvPr/>
        </p:nvSpPr>
        <p:spPr>
          <a:xfrm>
            <a:off x="1421295" y="2223053"/>
            <a:ext cx="1815548" cy="12059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A43F4-A1CB-5A7D-2AF4-E8A166DF5D44}"/>
              </a:ext>
            </a:extLst>
          </p:cNvPr>
          <p:cNvSpPr txBox="1"/>
          <p:nvPr/>
        </p:nvSpPr>
        <p:spPr>
          <a:xfrm>
            <a:off x="1421295" y="2641358"/>
            <a:ext cx="181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Sequencing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D7FAB4A-165A-6EF0-552E-9DD6A5925887}"/>
              </a:ext>
            </a:extLst>
          </p:cNvPr>
          <p:cNvSpPr/>
          <p:nvPr/>
        </p:nvSpPr>
        <p:spPr>
          <a:xfrm>
            <a:off x="2925416" y="4146761"/>
            <a:ext cx="1815548" cy="12059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80EC43-9C14-755B-1E26-49F5DFEE6528}"/>
              </a:ext>
            </a:extLst>
          </p:cNvPr>
          <p:cNvSpPr txBox="1"/>
          <p:nvPr/>
        </p:nvSpPr>
        <p:spPr>
          <a:xfrm>
            <a:off x="2925416" y="4426568"/>
            <a:ext cx="181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Read Preprocessing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7CCD4DE-BD97-F263-E7AE-869876A9EC7F}"/>
              </a:ext>
            </a:extLst>
          </p:cNvPr>
          <p:cNvSpPr/>
          <p:nvPr/>
        </p:nvSpPr>
        <p:spPr>
          <a:xfrm>
            <a:off x="4356652" y="2223053"/>
            <a:ext cx="1815548" cy="12059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C9742C-BA99-72EA-5272-4328611D10D2}"/>
              </a:ext>
            </a:extLst>
          </p:cNvPr>
          <p:cNvSpPr txBox="1"/>
          <p:nvPr/>
        </p:nvSpPr>
        <p:spPr>
          <a:xfrm>
            <a:off x="4356652" y="2641358"/>
            <a:ext cx="181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Alignment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950B7EA-FCBE-AC5F-0553-E8139BDCA5C0}"/>
              </a:ext>
            </a:extLst>
          </p:cNvPr>
          <p:cNvSpPr/>
          <p:nvPr/>
        </p:nvSpPr>
        <p:spPr>
          <a:xfrm>
            <a:off x="5893902" y="4150387"/>
            <a:ext cx="1815548" cy="12059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D250BA-D7A5-7BEE-EA7D-F0776B809EA3}"/>
              </a:ext>
            </a:extLst>
          </p:cNvPr>
          <p:cNvSpPr txBox="1"/>
          <p:nvPr/>
        </p:nvSpPr>
        <p:spPr>
          <a:xfrm>
            <a:off x="5893902" y="4430194"/>
            <a:ext cx="181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Cell Barcode &amp; UMI Processing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367739B-D7F0-34C8-4B65-702F7DEE0AFE}"/>
              </a:ext>
            </a:extLst>
          </p:cNvPr>
          <p:cNvSpPr/>
          <p:nvPr/>
        </p:nvSpPr>
        <p:spPr>
          <a:xfrm>
            <a:off x="7292009" y="2224911"/>
            <a:ext cx="1815548" cy="12059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F7F3EF-8114-CAE6-9826-F8EA22A93347}"/>
              </a:ext>
            </a:extLst>
          </p:cNvPr>
          <p:cNvSpPr txBox="1"/>
          <p:nvPr/>
        </p:nvSpPr>
        <p:spPr>
          <a:xfrm>
            <a:off x="7292009" y="2504718"/>
            <a:ext cx="181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Filtering &amp; Quality Control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705020D-71CE-7375-C29F-7D3099A91817}"/>
              </a:ext>
            </a:extLst>
          </p:cNvPr>
          <p:cNvSpPr/>
          <p:nvPr/>
        </p:nvSpPr>
        <p:spPr>
          <a:xfrm>
            <a:off x="8862388" y="4146761"/>
            <a:ext cx="1815548" cy="12059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95D337-3704-97AB-1508-981D5C34D8A8}"/>
              </a:ext>
            </a:extLst>
          </p:cNvPr>
          <p:cNvSpPr txBox="1"/>
          <p:nvPr/>
        </p:nvSpPr>
        <p:spPr>
          <a:xfrm>
            <a:off x="8862388" y="4426568"/>
            <a:ext cx="181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Generation of Count Matrix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74DE81-69AC-AA4E-5417-EC101E2F25B8}"/>
              </a:ext>
            </a:extLst>
          </p:cNvPr>
          <p:cNvCxnSpPr/>
          <p:nvPr/>
        </p:nvCxnSpPr>
        <p:spPr>
          <a:xfrm>
            <a:off x="2998304" y="3543473"/>
            <a:ext cx="238539" cy="414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407CFE0-27A6-D326-5350-BAB256A72D74}"/>
              </a:ext>
            </a:extLst>
          </p:cNvPr>
          <p:cNvCxnSpPr/>
          <p:nvPr/>
        </p:nvCxnSpPr>
        <p:spPr>
          <a:xfrm>
            <a:off x="5933661" y="3531436"/>
            <a:ext cx="238539" cy="414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ACC7CC-6339-03AA-1A4B-5D813EB72675}"/>
              </a:ext>
            </a:extLst>
          </p:cNvPr>
          <p:cNvCxnSpPr/>
          <p:nvPr/>
        </p:nvCxnSpPr>
        <p:spPr>
          <a:xfrm>
            <a:off x="8849138" y="3548442"/>
            <a:ext cx="238539" cy="414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6E4642-4420-8D52-E698-5624C63515A4}"/>
              </a:ext>
            </a:extLst>
          </p:cNvPr>
          <p:cNvCxnSpPr>
            <a:cxnSpLocks/>
          </p:cNvCxnSpPr>
          <p:nvPr/>
        </p:nvCxnSpPr>
        <p:spPr>
          <a:xfrm flipV="1">
            <a:off x="4184372" y="3574541"/>
            <a:ext cx="344559" cy="35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DD90134-6AC9-9040-5497-828C498E851D}"/>
              </a:ext>
            </a:extLst>
          </p:cNvPr>
          <p:cNvCxnSpPr>
            <a:cxnSpLocks/>
          </p:cNvCxnSpPr>
          <p:nvPr/>
        </p:nvCxnSpPr>
        <p:spPr>
          <a:xfrm flipV="1">
            <a:off x="7166109" y="3593572"/>
            <a:ext cx="344559" cy="35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00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5A3BA-F3D8-65A8-0954-6D4167C06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6D6681-F1AC-A8CF-0904-1D9389BA4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How to Represent Count Matrices (in Python)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2AF041-2B79-33BE-3DDD-16C48078C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8" y="1822450"/>
            <a:ext cx="196437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noProof="1"/>
              <a:t>Array</a:t>
            </a:r>
          </a:p>
          <a:p>
            <a:pPr marL="0" indent="0">
              <a:buNone/>
            </a:pPr>
            <a:r>
              <a:rPr lang="en-GB" sz="1800" noProof="1"/>
              <a:t>(Numpy)</a:t>
            </a:r>
          </a:p>
          <a:p>
            <a:pPr marL="0" indent="0">
              <a:buNone/>
            </a:pPr>
            <a:endParaRPr lang="en-GB" sz="1800" noProof="1"/>
          </a:p>
          <a:p>
            <a:pPr marL="0" indent="0">
              <a:buNone/>
            </a:pPr>
            <a:endParaRPr lang="en-GB" sz="1800" noProof="1"/>
          </a:p>
          <a:p>
            <a:pPr marL="0" indent="0">
              <a:buNone/>
            </a:pPr>
            <a:endParaRPr lang="en-GB" sz="1800" noProof="1"/>
          </a:p>
          <a:p>
            <a:pPr marL="0" indent="0">
              <a:buNone/>
            </a:pPr>
            <a:br>
              <a:rPr lang="en-GB" sz="1800" noProof="1"/>
            </a:br>
            <a:r>
              <a:rPr lang="en-GB" sz="1800" noProof="1"/>
              <a:t>DataFrame</a:t>
            </a:r>
          </a:p>
          <a:p>
            <a:pPr marL="0" indent="0">
              <a:buNone/>
            </a:pPr>
            <a:r>
              <a:rPr lang="en-GB" sz="1800" noProof="1"/>
              <a:t>(Pandas)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38B47-9F29-EF88-9907-861312D2E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376C-0A92-6642-81FE-3BA6462A5B99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C66B95-07C1-563A-2E46-A2472A4F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3</a:t>
            </a:fld>
            <a:endParaRPr lang="en-GB" noProof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FC6D287-AC9E-2176-B74F-D1026CBBA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182951"/>
              </p:ext>
            </p:extLst>
          </p:nvPr>
        </p:nvGraphicFramePr>
        <p:xfrm>
          <a:off x="3934590" y="3998119"/>
          <a:ext cx="4676010" cy="1524000"/>
        </p:xfrm>
        <a:graphic>
          <a:graphicData uri="http://schemas.openxmlformats.org/drawingml/2006/table">
            <a:tbl>
              <a:tblPr firstRow="1" firstCol="1">
                <a:tableStyleId>{616DA210-FB5B-4158-B5E0-FEB733F419BA}</a:tableStyleId>
              </a:tblPr>
              <a:tblGrid>
                <a:gridCol w="935202">
                  <a:extLst>
                    <a:ext uri="{9D8B030D-6E8A-4147-A177-3AD203B41FA5}">
                      <a16:colId xmlns:a16="http://schemas.microsoft.com/office/drawing/2014/main" val="1892505468"/>
                    </a:ext>
                  </a:extLst>
                </a:gridCol>
                <a:gridCol w="935202">
                  <a:extLst>
                    <a:ext uri="{9D8B030D-6E8A-4147-A177-3AD203B41FA5}">
                      <a16:colId xmlns:a16="http://schemas.microsoft.com/office/drawing/2014/main" val="2849054276"/>
                    </a:ext>
                  </a:extLst>
                </a:gridCol>
                <a:gridCol w="935202">
                  <a:extLst>
                    <a:ext uri="{9D8B030D-6E8A-4147-A177-3AD203B41FA5}">
                      <a16:colId xmlns:a16="http://schemas.microsoft.com/office/drawing/2014/main" val="1817486551"/>
                    </a:ext>
                  </a:extLst>
                </a:gridCol>
                <a:gridCol w="935202">
                  <a:extLst>
                    <a:ext uri="{9D8B030D-6E8A-4147-A177-3AD203B41FA5}">
                      <a16:colId xmlns:a16="http://schemas.microsoft.com/office/drawing/2014/main" val="4256281831"/>
                    </a:ext>
                  </a:extLst>
                </a:gridCol>
                <a:gridCol w="935202">
                  <a:extLst>
                    <a:ext uri="{9D8B030D-6E8A-4147-A177-3AD203B41FA5}">
                      <a16:colId xmlns:a16="http://schemas.microsoft.com/office/drawing/2014/main" val="1760313918"/>
                    </a:ext>
                  </a:extLst>
                </a:gridCol>
              </a:tblGrid>
              <a:tr h="282771">
                <a:tc>
                  <a:txBody>
                    <a:bodyPr/>
                    <a:lstStyle/>
                    <a:p>
                      <a:endParaRPr lang="en-GB" sz="14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Cell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Cell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49704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Gene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444390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612123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734933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Gene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3044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F09A0EC-2D61-D029-0CDC-F34F1A7EE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562869"/>
              </p:ext>
            </p:extLst>
          </p:nvPr>
        </p:nvGraphicFramePr>
        <p:xfrm>
          <a:off x="4869788" y="1825625"/>
          <a:ext cx="3740812" cy="121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35203">
                  <a:extLst>
                    <a:ext uri="{9D8B030D-6E8A-4147-A177-3AD203B41FA5}">
                      <a16:colId xmlns:a16="http://schemas.microsoft.com/office/drawing/2014/main" val="2849054276"/>
                    </a:ext>
                  </a:extLst>
                </a:gridCol>
                <a:gridCol w="935203">
                  <a:extLst>
                    <a:ext uri="{9D8B030D-6E8A-4147-A177-3AD203B41FA5}">
                      <a16:colId xmlns:a16="http://schemas.microsoft.com/office/drawing/2014/main" val="1817486551"/>
                    </a:ext>
                  </a:extLst>
                </a:gridCol>
                <a:gridCol w="935203">
                  <a:extLst>
                    <a:ext uri="{9D8B030D-6E8A-4147-A177-3AD203B41FA5}">
                      <a16:colId xmlns:a16="http://schemas.microsoft.com/office/drawing/2014/main" val="4256281831"/>
                    </a:ext>
                  </a:extLst>
                </a:gridCol>
                <a:gridCol w="935203">
                  <a:extLst>
                    <a:ext uri="{9D8B030D-6E8A-4147-A177-3AD203B41FA5}">
                      <a16:colId xmlns:a16="http://schemas.microsoft.com/office/drawing/2014/main" val="1760313918"/>
                    </a:ext>
                  </a:extLst>
                </a:gridCol>
              </a:tblGrid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444390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612123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734933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30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381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534C8-BC81-E044-D59B-E43ECCB75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76C5F9-0BA2-A79B-4F80-B2A19FF6F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AnnData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DE074-E052-6BBB-475F-6590E117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24B4B-6A38-C04F-ACE8-BEFD964B45FF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F665BB-3F5E-B4E1-23B3-93F4A44F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4</a:t>
            </a:fld>
            <a:endParaRPr lang="en-GB" noProof="1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D8CDFC-AF07-2225-FC7C-3BF26BE56A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81400" y="1690688"/>
            <a:ext cx="4226673" cy="41139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D9B091-1E0F-D008-4AE5-748DCF7A087C}"/>
              </a:ext>
            </a:extLst>
          </p:cNvPr>
          <p:cNvSpPr txBox="1"/>
          <p:nvPr/>
        </p:nvSpPr>
        <p:spPr>
          <a:xfrm>
            <a:off x="4060134" y="6415801"/>
            <a:ext cx="40717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1"/>
              <a:t>Virshup, Isaac, et al. "anndata: Annotated data." </a:t>
            </a:r>
            <a:r>
              <a:rPr lang="en-GB" sz="1000" i="1" noProof="1"/>
              <a:t>BioRxiv</a:t>
            </a:r>
            <a:r>
              <a:rPr lang="en-GB" sz="1000" noProof="1"/>
              <a:t> (2021): 2021-12.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CD1642-3361-ACC9-581B-BA3FB9716056}"/>
              </a:ext>
            </a:extLst>
          </p:cNvPr>
          <p:cNvSpPr txBox="1"/>
          <p:nvPr/>
        </p:nvSpPr>
        <p:spPr>
          <a:xfrm>
            <a:off x="7981564" y="5023438"/>
            <a:ext cx="3198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1">
                <a:hlinkClick r:id="rId3"/>
              </a:rPr>
              <a:t>https://anndata.readthedocs.io/</a:t>
            </a:r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498860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1B75-EA72-E87D-31D9-F161EB36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How to Create Your Own AnnData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05710-2A9F-D487-71BC-AA30A6A9C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394" y="1915319"/>
            <a:ext cx="51120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noProof="1"/>
              <a:t>With ScanPy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449B4-8BC1-7A88-D5B8-D2E0BC9C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03B7-88CB-234C-9BEB-EF68218ADE02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34584-E7B0-70D2-16EF-859508E9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5</a:t>
            </a:fld>
            <a:endParaRPr lang="en-GB" noProof="1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4D75E0-7371-23B0-F085-FAC64AE0E71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120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b="1" noProof="1"/>
              <a:t>Manually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65382E-69B0-4E68-0488-784E82A60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65" y="2487786"/>
            <a:ext cx="3031435" cy="24637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83A659-96C4-E182-6104-CC2D07809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394" y="2460583"/>
            <a:ext cx="2556013" cy="34802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434A87-4939-C962-B835-181FF653D26C}"/>
              </a:ext>
            </a:extLst>
          </p:cNvPr>
          <p:cNvSpPr txBox="1"/>
          <p:nvPr/>
        </p:nvSpPr>
        <p:spPr>
          <a:xfrm>
            <a:off x="8001001" y="3700353"/>
            <a:ext cx="3089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noProof="1">
                <a:hlinkClick r:id="rId4"/>
              </a:rPr>
              <a:t>https://scanpy.readthedocs.io/en/1.10.x/api/reading.html</a:t>
            </a:r>
            <a:endParaRPr lang="en-GB" sz="1800" noProof="1"/>
          </a:p>
        </p:txBody>
      </p:sp>
    </p:spTree>
    <p:extLst>
      <p:ext uri="{BB962C8B-B14F-4D97-AF65-F5344CB8AC3E}">
        <p14:creationId xmlns:p14="http://schemas.microsoft.com/office/powerpoint/2010/main" val="195003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DC207-2C99-71F6-3CAF-095BC665C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The CLL Data Set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35501-77BA-0193-4B51-03E5E6616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4F716-1CA7-0048-9CC4-1DFDC631832C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BCF8C-2F4E-C450-75A0-50B53489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6</a:t>
            </a:fld>
            <a:endParaRPr lang="en-GB" noProof="1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E49809-FD07-0C20-518B-C531B4CB650F}"/>
              </a:ext>
            </a:extLst>
          </p:cNvPr>
          <p:cNvGrpSpPr/>
          <p:nvPr/>
        </p:nvGrpSpPr>
        <p:grpSpPr>
          <a:xfrm>
            <a:off x="838200" y="1933834"/>
            <a:ext cx="2743200" cy="2110851"/>
            <a:chOff x="838200" y="1612630"/>
            <a:chExt cx="1766170" cy="479538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74D0B8-B37A-8634-E1B5-BD43B0DB0E9F}"/>
                </a:ext>
              </a:extLst>
            </p:cNvPr>
            <p:cNvSpPr/>
            <p:nvPr/>
          </p:nvSpPr>
          <p:spPr>
            <a:xfrm>
              <a:off x="838200" y="2847837"/>
              <a:ext cx="1766170" cy="108976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Transcriptome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B3AE296-2220-DD0F-56A9-FC67C50DAB28}"/>
                </a:ext>
              </a:extLst>
            </p:cNvPr>
            <p:cNvSpPr/>
            <p:nvPr/>
          </p:nvSpPr>
          <p:spPr>
            <a:xfrm>
              <a:off x="838200" y="1612630"/>
              <a:ext cx="1766170" cy="108976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Somatic mutations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02A36FB-7E2C-AFCA-7A5E-A71247D11FA2}"/>
                </a:ext>
              </a:extLst>
            </p:cNvPr>
            <p:cNvSpPr/>
            <p:nvPr/>
          </p:nvSpPr>
          <p:spPr>
            <a:xfrm>
              <a:off x="838200" y="4083044"/>
              <a:ext cx="1766170" cy="108976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DNA methylation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6391E20F-7AA0-7AE4-1FE1-285FB9BABB76}"/>
                </a:ext>
              </a:extLst>
            </p:cNvPr>
            <p:cNvSpPr/>
            <p:nvPr/>
          </p:nvSpPr>
          <p:spPr>
            <a:xfrm>
              <a:off x="838200" y="5318251"/>
              <a:ext cx="1766170" cy="108976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Ex vivo drug response</a:t>
              </a:r>
            </a:p>
          </p:txBody>
        </p:sp>
      </p:grp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9AAD88F-126B-5501-67CA-59483416F20F}"/>
              </a:ext>
            </a:extLst>
          </p:cNvPr>
          <p:cNvSpPr/>
          <p:nvPr/>
        </p:nvSpPr>
        <p:spPr>
          <a:xfrm>
            <a:off x="5166159" y="1939806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69 mutation loci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7FF56FB-4B45-A3E6-4B8F-738536AC2C05}"/>
              </a:ext>
            </a:extLst>
          </p:cNvPr>
          <p:cNvSpPr/>
          <p:nvPr/>
        </p:nvSpPr>
        <p:spPr>
          <a:xfrm>
            <a:off x="5166159" y="3023680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200 methylation sites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361CB30-CE82-B29A-83CD-9484AAE35B7E}"/>
              </a:ext>
            </a:extLst>
          </p:cNvPr>
          <p:cNvSpPr/>
          <p:nvPr/>
        </p:nvSpPr>
        <p:spPr>
          <a:xfrm>
            <a:off x="5166159" y="2482372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5000 transcripts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1DBF009-671D-82D1-837E-439FBBD8EFD4}"/>
              </a:ext>
            </a:extLst>
          </p:cNvPr>
          <p:cNvSpPr/>
          <p:nvPr/>
        </p:nvSpPr>
        <p:spPr>
          <a:xfrm>
            <a:off x="5166160" y="3564988"/>
            <a:ext cx="2805988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62 drugs (5 concentrations)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F845051-7DA9-F798-A8D8-9CD5D501A935}"/>
              </a:ext>
            </a:extLst>
          </p:cNvPr>
          <p:cNvSpPr/>
          <p:nvPr/>
        </p:nvSpPr>
        <p:spPr>
          <a:xfrm>
            <a:off x="3700954" y="1939806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200 patients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228AEA9-DB46-8475-1054-B79BC646A7F1}"/>
              </a:ext>
            </a:extLst>
          </p:cNvPr>
          <p:cNvSpPr/>
          <p:nvPr/>
        </p:nvSpPr>
        <p:spPr>
          <a:xfrm>
            <a:off x="3700954" y="3023680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200 patients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B4FC327-6686-2C43-A3A6-45A786BAF48A}"/>
              </a:ext>
            </a:extLst>
          </p:cNvPr>
          <p:cNvSpPr/>
          <p:nvPr/>
        </p:nvSpPr>
        <p:spPr>
          <a:xfrm>
            <a:off x="3700954" y="2482372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136 patients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F179B51-275F-15DF-20F6-50BBF90726D2}"/>
              </a:ext>
            </a:extLst>
          </p:cNvPr>
          <p:cNvSpPr/>
          <p:nvPr/>
        </p:nvSpPr>
        <p:spPr>
          <a:xfrm>
            <a:off x="3700955" y="3564988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200 patients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D0CBB9B-F0D4-C32E-F354-B080D40B25B8}"/>
              </a:ext>
            </a:extLst>
          </p:cNvPr>
          <p:cNvSpPr/>
          <p:nvPr/>
        </p:nvSpPr>
        <p:spPr>
          <a:xfrm>
            <a:off x="3989577" y="4471961"/>
            <a:ext cx="4005263" cy="181143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GB" b="1" noProof="1">
                <a:solidFill>
                  <a:schemeClr val="tx1"/>
                </a:solidFill>
              </a:rPr>
              <a:t>Patient metadata</a:t>
            </a:r>
            <a:r>
              <a:rPr lang="en-GB" noProof="1">
                <a:solidFill>
                  <a:schemeClr val="tx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IC50 before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Treated after 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Survival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4F7FF70-B07E-D395-B962-10447A08DC10}"/>
              </a:ext>
            </a:extLst>
          </p:cNvPr>
          <p:cNvSpPr/>
          <p:nvPr/>
        </p:nvSpPr>
        <p:spPr>
          <a:xfrm>
            <a:off x="8149873" y="1933834"/>
            <a:ext cx="2494454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Binary encoding (0 or 1)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A905BFE-4A34-34C1-3083-747E7D288459}"/>
              </a:ext>
            </a:extLst>
          </p:cNvPr>
          <p:cNvSpPr/>
          <p:nvPr/>
        </p:nvSpPr>
        <p:spPr>
          <a:xfrm>
            <a:off x="8149873" y="3017708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M-value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BCBA6C6-6736-87B4-2A0B-A7A9E81CCB3E}"/>
              </a:ext>
            </a:extLst>
          </p:cNvPr>
          <p:cNvSpPr/>
          <p:nvPr/>
        </p:nvSpPr>
        <p:spPr>
          <a:xfrm>
            <a:off x="8149873" y="2476400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Transformed counts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E593774-56E2-E823-392E-C7F2965BF926}"/>
              </a:ext>
            </a:extLst>
          </p:cNvPr>
          <p:cNvSpPr/>
          <p:nvPr/>
        </p:nvSpPr>
        <p:spPr>
          <a:xfrm>
            <a:off x="8149874" y="3559016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Viability score (0 to 1)</a:t>
            </a:r>
          </a:p>
        </p:txBody>
      </p:sp>
    </p:spTree>
    <p:extLst>
      <p:ext uri="{BB962C8B-B14F-4D97-AF65-F5344CB8AC3E}">
        <p14:creationId xmlns:p14="http://schemas.microsoft.com/office/powerpoint/2010/main" val="2750239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14EC5-6946-C140-9677-C92B11F8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859FC-133C-7295-0E03-DDA02D31A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Factor Models and MOFA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41EBD-C383-9607-5223-52BB2F4E4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1"/>
              <a:t>An introduction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C0021-3180-1326-255F-2FEEDF4A2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EEF62-8B8C-6C4F-B015-9468474F1B68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EB8F73-C16E-BA50-3737-A38160434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7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816531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F84FA7-ADC1-11BA-1122-5141F91E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Omics Data is High-Dimensional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77AD35-E16A-A6E8-474F-E30031CAD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7296"/>
            <a:ext cx="7579660" cy="1912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noProof="1"/>
              <a:t>Modality			Number of features / dimensions</a:t>
            </a:r>
          </a:p>
          <a:p>
            <a:pPr marL="0" indent="0">
              <a:buNone/>
            </a:pPr>
            <a:r>
              <a:rPr lang="en-GB" sz="1800" noProof="1">
                <a:solidFill>
                  <a:schemeClr val="accent1"/>
                </a:solidFill>
              </a:rPr>
              <a:t>Proteome		e.g. 10 000 proteins</a:t>
            </a:r>
          </a:p>
          <a:p>
            <a:pPr marL="0" indent="0">
              <a:buNone/>
            </a:pPr>
            <a:r>
              <a:rPr lang="en-GB" sz="1800" noProof="1">
                <a:solidFill>
                  <a:schemeClr val="accent2"/>
                </a:solidFill>
              </a:rPr>
              <a:t>Transcriptome		e.g. 20 000 genes</a:t>
            </a:r>
          </a:p>
          <a:p>
            <a:pPr marL="0" indent="0">
              <a:buNone/>
            </a:pPr>
            <a:r>
              <a:rPr lang="en-GB" sz="1800" noProof="1">
                <a:solidFill>
                  <a:schemeClr val="tx2"/>
                </a:solidFill>
              </a:rPr>
              <a:t>Genome			e.g. 5 million SNPs</a:t>
            </a:r>
            <a:endParaRPr lang="en-GB" sz="1800" noProof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GB" sz="1800" noProof="1">
                <a:solidFill>
                  <a:schemeClr val="accent6"/>
                </a:solidFill>
              </a:rPr>
              <a:t>Epigenome		e.g. 20 million CpG sites</a:t>
            </a:r>
            <a:endParaRPr lang="en-GB" sz="1800" noProof="1"/>
          </a:p>
          <a:p>
            <a:pPr marL="0" indent="0">
              <a:buNone/>
            </a:pPr>
            <a:endParaRPr lang="en-GB" sz="1800" noProof="1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5648899-6C7F-9B9F-29B5-FCD68233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7853-C6BA-9F4D-88AE-F144534F64A4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A3D43-AA6E-0CA0-84FC-B53F3B6C1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8</a:t>
            </a:fld>
            <a:endParaRPr lang="en-GB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46E3AC-AD8D-FA67-29EF-D76D46F3A389}"/>
                  </a:ext>
                </a:extLst>
              </p:cNvPr>
              <p:cNvSpPr txBox="1"/>
              <p:nvPr/>
            </p:nvSpPr>
            <p:spPr>
              <a:xfrm>
                <a:off x="802341" y="4614394"/>
                <a:ext cx="96908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noProof="1"/>
                  <a:t>... often in just 100s to 1000s of cells / samples	</a:t>
                </a:r>
                <a:r>
                  <a:rPr lang="en-GB" sz="1800" noProof="1">
                    <a:sym typeface="Wingdings" pitchFamily="2" charset="2"/>
                  </a:rPr>
                  <a:t>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noProof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800" b="0" i="0" noProof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800" b="0" i="0" noProof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dimensions</m:t>
                        </m:r>
                      </m:sub>
                    </m:sSub>
                    <m:r>
                      <a:rPr lang="en-GB" sz="1800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≫</m:t>
                    </m:r>
                    <m:sSub>
                      <m:sSubPr>
                        <m:ctrlPr>
                          <a:rPr lang="en-GB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800" b="0" i="0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800" b="0" i="0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observations</m:t>
                        </m:r>
                      </m:sub>
                    </m:sSub>
                  </m:oMath>
                </a14:m>
                <a:endParaRPr lang="en-GB" sz="1800" noProof="1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46E3AC-AD8D-FA67-29EF-D76D46F3A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41" y="4614394"/>
                <a:ext cx="9690847" cy="369332"/>
              </a:xfrm>
              <a:prstGeom prst="rect">
                <a:avLst/>
              </a:prstGeom>
              <a:blipFill>
                <a:blip r:embed="rId3"/>
                <a:stretch>
                  <a:fillRect l="-524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653CBE5-E997-5520-FE43-05FA9EDFC53B}"/>
              </a:ext>
            </a:extLst>
          </p:cNvPr>
          <p:cNvSpPr/>
          <p:nvPr/>
        </p:nvSpPr>
        <p:spPr>
          <a:xfrm>
            <a:off x="6163236" y="4516561"/>
            <a:ext cx="3025588" cy="59167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84379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BA90-C659-014A-0DEC-95BDFCA6F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F7E2C3-4519-41F6-626A-00849BE67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The Curse of Dimensionality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865D226-FA04-054F-1623-2C95E44BE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7853-C6BA-9F4D-88AE-F144534F64A4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76630-7594-013B-9AAA-8DAECBB1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9</a:t>
            </a:fld>
            <a:endParaRPr lang="en-GB" noProof="1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4E0CDC-106A-F648-8E78-7537B6C26EE4}"/>
              </a:ext>
            </a:extLst>
          </p:cNvPr>
          <p:cNvCxnSpPr>
            <a:cxnSpLocks/>
          </p:cNvCxnSpPr>
          <p:nvPr/>
        </p:nvCxnSpPr>
        <p:spPr>
          <a:xfrm>
            <a:off x="1237452" y="2806151"/>
            <a:ext cx="907793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513AE83-DC02-2426-948F-61EE17A46311}"/>
              </a:ext>
            </a:extLst>
          </p:cNvPr>
          <p:cNvSpPr/>
          <p:nvPr/>
        </p:nvSpPr>
        <p:spPr>
          <a:xfrm>
            <a:off x="3736580" y="2267454"/>
            <a:ext cx="1161273" cy="11612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486726-E2DD-755F-23B3-B21C444C61F2}"/>
              </a:ext>
            </a:extLst>
          </p:cNvPr>
          <p:cNvSpPr/>
          <p:nvPr/>
        </p:nvSpPr>
        <p:spPr>
          <a:xfrm>
            <a:off x="3736580" y="2267454"/>
            <a:ext cx="1161273" cy="116126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1A8E96-8D4B-DB7D-B28E-26118A7E99BA}"/>
              </a:ext>
            </a:extLst>
          </p:cNvPr>
          <p:cNvCxnSpPr>
            <a:cxnSpLocks/>
          </p:cNvCxnSpPr>
          <p:nvPr/>
        </p:nvCxnSpPr>
        <p:spPr>
          <a:xfrm>
            <a:off x="1237452" y="2845908"/>
            <a:ext cx="907793" cy="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D20CDB-024A-06C7-DD65-15D03E06D1C1}"/>
              </a:ext>
            </a:extLst>
          </p:cNvPr>
          <p:cNvSpPr txBox="1"/>
          <p:nvPr/>
        </p:nvSpPr>
        <p:spPr>
          <a:xfrm>
            <a:off x="3427298" y="1690688"/>
            <a:ext cx="177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D =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CDDC95-8A7F-E5E1-4F19-B56FDEA89252}"/>
              </a:ext>
            </a:extLst>
          </p:cNvPr>
          <p:cNvSpPr txBox="1"/>
          <p:nvPr/>
        </p:nvSpPr>
        <p:spPr>
          <a:xfrm>
            <a:off x="838200" y="1690688"/>
            <a:ext cx="177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D =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7FE8C2-86A9-6764-661C-B5F36DA9E7AF}"/>
              </a:ext>
            </a:extLst>
          </p:cNvPr>
          <p:cNvSpPr txBox="1"/>
          <p:nvPr/>
        </p:nvSpPr>
        <p:spPr>
          <a:xfrm>
            <a:off x="6016396" y="1690688"/>
            <a:ext cx="177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D =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37148BC-F47E-845D-1C8F-4334C8FDC8AF}"/>
                  </a:ext>
                </a:extLst>
              </p:cNvPr>
              <p:cNvSpPr txBox="1"/>
              <p:nvPr/>
            </p:nvSpPr>
            <p:spPr>
              <a:xfrm>
                <a:off x="1385975" y="3785906"/>
                <a:ext cx="61074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noProof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GB" b="0" i="1" noProof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noProof="1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37148BC-F47E-845D-1C8F-4334C8FDC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975" y="3785906"/>
                <a:ext cx="610745" cy="518604"/>
              </a:xfrm>
              <a:prstGeom prst="rect">
                <a:avLst/>
              </a:prstGeom>
              <a:blipFill>
                <a:blip r:embed="rId3"/>
                <a:stretch>
                  <a:fillRect l="-8000" t="-4878" r="-8000"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0E172D-98A4-A051-77D1-BDE19484C8D6}"/>
                  </a:ext>
                </a:extLst>
              </p:cNvPr>
              <p:cNvSpPr txBox="1"/>
              <p:nvPr/>
            </p:nvSpPr>
            <p:spPr>
              <a:xfrm>
                <a:off x="3581400" y="3738800"/>
                <a:ext cx="15084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noProof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b="0" i="1" noProof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sup>
                              <m: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GB" b="0" i="1" noProof="1" dirty="0" smtClean="0">
                          <a:latin typeface="Cambria Math" panose="02040503050406030204" pitchFamily="18" charset="0"/>
                        </a:rPr>
                        <m:t>≅0.78</m:t>
                      </m:r>
                    </m:oMath>
                  </m:oMathPara>
                </a14:m>
                <a:endParaRPr lang="en-GB" noProof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0E172D-98A4-A051-77D1-BDE19484C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738800"/>
                <a:ext cx="1508490" cy="553998"/>
              </a:xfrm>
              <a:prstGeom prst="rect">
                <a:avLst/>
              </a:prstGeom>
              <a:blipFill>
                <a:blip r:embed="rId4"/>
                <a:stretch>
                  <a:fillRect l="-2521" r="-3361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46DF75-03B1-D4E3-39CC-F32B94248BC5}"/>
                  </a:ext>
                </a:extLst>
              </p:cNvPr>
              <p:cNvSpPr txBox="1"/>
              <p:nvPr/>
            </p:nvSpPr>
            <p:spPr>
              <a:xfrm>
                <a:off x="6196758" y="3594081"/>
                <a:ext cx="1675202" cy="698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GB" b="0" i="1" noProof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b="0" i="1" noProof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sup>
                              <m: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GB" b="0" i="1" noProof="1" dirty="0" smtClean="0">
                          <a:latin typeface="Cambria Math" panose="02040503050406030204" pitchFamily="18" charset="0"/>
                        </a:rPr>
                        <m:t>≅0.52</m:t>
                      </m:r>
                    </m:oMath>
                  </m:oMathPara>
                </a14:m>
                <a:endParaRPr lang="en-GB" noProof="1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46DF75-03B1-D4E3-39CC-F32B94248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758" y="3594081"/>
                <a:ext cx="1675202" cy="698717"/>
              </a:xfrm>
              <a:prstGeom prst="rect">
                <a:avLst/>
              </a:prstGeom>
              <a:blipFill>
                <a:blip r:embed="rId5"/>
                <a:stretch>
                  <a:fillRect l="-3030" t="-1818" r="-3030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C20ECE7-71CB-86D7-EDFF-1F35E0BFF7E5}"/>
              </a:ext>
            </a:extLst>
          </p:cNvPr>
          <p:cNvSpPr txBox="1"/>
          <p:nvPr/>
        </p:nvSpPr>
        <p:spPr>
          <a:xfrm>
            <a:off x="8605494" y="1690688"/>
            <a:ext cx="177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D = 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051BE13-E11F-4916-DC13-81D524987F10}"/>
                  </a:ext>
                </a:extLst>
              </p:cNvPr>
              <p:cNvSpPr txBox="1"/>
              <p:nvPr/>
            </p:nvSpPr>
            <p:spPr>
              <a:xfrm>
                <a:off x="9285833" y="3931185"/>
                <a:ext cx="4183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noProof="1" dirty="0" smtClean="0">
                          <a:latin typeface="Cambria Math" panose="02040503050406030204" pitchFamily="18" charset="0"/>
                        </a:rPr>
                        <m:t>≅0</m:t>
                      </m:r>
                    </m:oMath>
                  </m:oMathPara>
                </a14:m>
                <a:endParaRPr lang="en-GB" noProof="1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051BE13-E11F-4916-DC13-81D524987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833" y="3931185"/>
                <a:ext cx="418383" cy="276999"/>
              </a:xfrm>
              <a:prstGeom prst="rect">
                <a:avLst/>
              </a:prstGeom>
              <a:blipFill>
                <a:blip r:embed="rId6"/>
                <a:stretch>
                  <a:fillRect l="-8824" r="-8824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2D735C1D-4F98-737A-225A-8786299B7EA3}"/>
              </a:ext>
            </a:extLst>
          </p:cNvPr>
          <p:cNvSpPr txBox="1"/>
          <p:nvPr/>
        </p:nvSpPr>
        <p:spPr>
          <a:xfrm>
            <a:off x="838200" y="4857992"/>
            <a:ext cx="66055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noProof="1"/>
              <a:t>In very high dimensions.</a:t>
            </a:r>
            <a:r>
              <a:rPr lang="en-GB" noProof="1"/>
              <a:t>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noProof="1"/>
              <a:t>spheres around data points fill vanishingly small volumes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/>
              <a:t>it becomes difficult to establish relations between data points</a:t>
            </a:r>
          </a:p>
          <a:p>
            <a:r>
              <a:rPr lang="en-GB" noProof="1">
                <a:solidFill>
                  <a:srgbClr val="C00000"/>
                </a:solidFill>
                <a:sym typeface="Wingdings" pitchFamily="2" charset="2"/>
              </a:rPr>
              <a:t> High dimensions are typically not suitable for direct analysis</a:t>
            </a:r>
            <a:endParaRPr lang="en-GB" sz="1800" noProof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18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3CD2C-3FC4-43BC-F9CD-84A3BE78F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368D93-0E3E-FE40-55AD-65F339F6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Dimensionality Reduction Methods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0546BF2-70AE-4B43-9BCB-558CE23A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7853-C6BA-9F4D-88AE-F144534F64A4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54A4C-93B1-9277-A132-9901EF4E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10</a:t>
            </a:fld>
            <a:endParaRPr lang="en-GB" noProof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B24A4A-7914-4B6D-02F9-A80CB3A4E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629967"/>
              </p:ext>
            </p:extLst>
          </p:nvPr>
        </p:nvGraphicFramePr>
        <p:xfrm>
          <a:off x="972671" y="1958788"/>
          <a:ext cx="4455462" cy="1219200"/>
        </p:xfrm>
        <a:graphic>
          <a:graphicData uri="http://schemas.openxmlformats.org/drawingml/2006/table">
            <a:tbl>
              <a:tblPr firstRow="1" firstCol="1">
                <a:tableStyleId>{616DA210-FB5B-4158-B5E0-FEB733F419BA}</a:tableStyleId>
              </a:tblPr>
              <a:tblGrid>
                <a:gridCol w="742577">
                  <a:extLst>
                    <a:ext uri="{9D8B030D-6E8A-4147-A177-3AD203B41FA5}">
                      <a16:colId xmlns:a16="http://schemas.microsoft.com/office/drawing/2014/main" val="1892505468"/>
                    </a:ext>
                  </a:extLst>
                </a:gridCol>
                <a:gridCol w="742577">
                  <a:extLst>
                    <a:ext uri="{9D8B030D-6E8A-4147-A177-3AD203B41FA5}">
                      <a16:colId xmlns:a16="http://schemas.microsoft.com/office/drawing/2014/main" val="2849054276"/>
                    </a:ext>
                  </a:extLst>
                </a:gridCol>
                <a:gridCol w="742577">
                  <a:extLst>
                    <a:ext uri="{9D8B030D-6E8A-4147-A177-3AD203B41FA5}">
                      <a16:colId xmlns:a16="http://schemas.microsoft.com/office/drawing/2014/main" val="1817486551"/>
                    </a:ext>
                  </a:extLst>
                </a:gridCol>
                <a:gridCol w="742577">
                  <a:extLst>
                    <a:ext uri="{9D8B030D-6E8A-4147-A177-3AD203B41FA5}">
                      <a16:colId xmlns:a16="http://schemas.microsoft.com/office/drawing/2014/main" val="4256281831"/>
                    </a:ext>
                  </a:extLst>
                </a:gridCol>
                <a:gridCol w="742577">
                  <a:extLst>
                    <a:ext uri="{9D8B030D-6E8A-4147-A177-3AD203B41FA5}">
                      <a16:colId xmlns:a16="http://schemas.microsoft.com/office/drawing/2014/main" val="2781472258"/>
                    </a:ext>
                  </a:extLst>
                </a:gridCol>
                <a:gridCol w="742577">
                  <a:extLst>
                    <a:ext uri="{9D8B030D-6E8A-4147-A177-3AD203B41FA5}">
                      <a16:colId xmlns:a16="http://schemas.microsoft.com/office/drawing/2014/main" val="1760313918"/>
                    </a:ext>
                  </a:extLst>
                </a:gridCol>
              </a:tblGrid>
              <a:tr h="282771">
                <a:tc>
                  <a:txBody>
                    <a:bodyPr/>
                    <a:lstStyle/>
                    <a:p>
                      <a:endParaRPr lang="en-GB" sz="14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Gene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Gene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Gene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49704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444390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734933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Cell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304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DAD056-AC94-44AC-D739-B916E1E00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621665"/>
              </p:ext>
            </p:extLst>
          </p:nvPr>
        </p:nvGraphicFramePr>
        <p:xfrm>
          <a:off x="2112867" y="4670888"/>
          <a:ext cx="2183802" cy="1219200"/>
        </p:xfrm>
        <a:graphic>
          <a:graphicData uri="http://schemas.openxmlformats.org/drawingml/2006/table">
            <a:tbl>
              <a:tblPr firstRow="1" firstCol="1">
                <a:tableStyleId>{616DA210-FB5B-4158-B5E0-FEB733F419BA}</a:tableStyleId>
              </a:tblPr>
              <a:tblGrid>
                <a:gridCol w="727934">
                  <a:extLst>
                    <a:ext uri="{9D8B030D-6E8A-4147-A177-3AD203B41FA5}">
                      <a16:colId xmlns:a16="http://schemas.microsoft.com/office/drawing/2014/main" val="1892505468"/>
                    </a:ext>
                  </a:extLst>
                </a:gridCol>
                <a:gridCol w="727934">
                  <a:extLst>
                    <a:ext uri="{9D8B030D-6E8A-4147-A177-3AD203B41FA5}">
                      <a16:colId xmlns:a16="http://schemas.microsoft.com/office/drawing/2014/main" val="2849054276"/>
                    </a:ext>
                  </a:extLst>
                </a:gridCol>
                <a:gridCol w="727934">
                  <a:extLst>
                    <a:ext uri="{9D8B030D-6E8A-4147-A177-3AD203B41FA5}">
                      <a16:colId xmlns:a16="http://schemas.microsoft.com/office/drawing/2014/main" val="1817486551"/>
                    </a:ext>
                  </a:extLst>
                </a:gridCol>
              </a:tblGrid>
              <a:tr h="282771">
                <a:tc>
                  <a:txBody>
                    <a:bodyPr/>
                    <a:lstStyle/>
                    <a:p>
                      <a:endParaRPr lang="en-GB" sz="14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Dim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Dim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49704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-6.2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444390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455866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Cell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9.1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612123"/>
                  </a:ext>
                </a:extLst>
              </a:tr>
            </a:tbl>
          </a:graphicData>
        </a:graphic>
      </p:graphicFrame>
      <p:sp>
        <p:nvSpPr>
          <p:cNvPr id="5" name="Trapezium 4">
            <a:extLst>
              <a:ext uri="{FF2B5EF4-FFF2-40B4-BE49-F238E27FC236}">
                <a16:creationId xmlns:a16="http://schemas.microsoft.com/office/drawing/2014/main" id="{22C881C6-9DA0-1F7C-AFE8-7BB0FACFF62D}"/>
              </a:ext>
            </a:extLst>
          </p:cNvPr>
          <p:cNvSpPr/>
          <p:nvPr/>
        </p:nvSpPr>
        <p:spPr>
          <a:xfrm rot="10800000">
            <a:off x="972665" y="3429000"/>
            <a:ext cx="4455463" cy="990876"/>
          </a:xfrm>
          <a:prstGeom prst="trapezoid">
            <a:avLst>
              <a:gd name="adj" fmla="val 1142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5BCDD64E-BECD-2209-4703-57B0A3C6F1ED}"/>
              </a:ext>
            </a:extLst>
          </p:cNvPr>
          <p:cNvSpPr/>
          <p:nvPr/>
        </p:nvSpPr>
        <p:spPr>
          <a:xfrm rot="5400000">
            <a:off x="2833650" y="3730857"/>
            <a:ext cx="733490" cy="38716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C414C2-9700-C777-F962-1239B23BE283}"/>
              </a:ext>
            </a:extLst>
          </p:cNvPr>
          <p:cNvSpPr txBox="1"/>
          <p:nvPr/>
        </p:nvSpPr>
        <p:spPr>
          <a:xfrm>
            <a:off x="6849037" y="1955148"/>
            <a:ext cx="406997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noProof="1"/>
              <a:t>Linear Methods</a:t>
            </a:r>
          </a:p>
          <a:p>
            <a:r>
              <a:rPr lang="en-GB" noProof="1"/>
              <a:t>Principal Component Analysis (PCA)</a:t>
            </a:r>
          </a:p>
          <a:p>
            <a:r>
              <a:rPr lang="en-GB" noProof="1"/>
              <a:t>Independent Component Analysis (ICA)</a:t>
            </a:r>
          </a:p>
          <a:p>
            <a:r>
              <a:rPr lang="en-GB" noProof="1"/>
              <a:t>Latent Dirichlet Allocation (LDA)</a:t>
            </a:r>
          </a:p>
          <a:p>
            <a:r>
              <a:rPr lang="en-GB" noProof="1"/>
              <a:t>Factor Analysis (FA)</a:t>
            </a:r>
          </a:p>
          <a:p>
            <a:r>
              <a:rPr lang="en-GB" noProof="1"/>
              <a:t>Non-Negative Matrix Factorization (NMF)</a:t>
            </a:r>
          </a:p>
          <a:p>
            <a:r>
              <a:rPr lang="en-GB" noProof="1"/>
              <a:t>...</a:t>
            </a:r>
          </a:p>
          <a:p>
            <a:endParaRPr lang="en-GB" noProof="1"/>
          </a:p>
          <a:p>
            <a:r>
              <a:rPr lang="en-GB" b="1" noProof="1"/>
              <a:t>Non-Linear Methods</a:t>
            </a:r>
          </a:p>
          <a:p>
            <a:r>
              <a:rPr lang="en-GB" noProof="1"/>
              <a:t>(Variational) Autoencoder (VAE)</a:t>
            </a:r>
          </a:p>
          <a:p>
            <a:r>
              <a:rPr lang="en-GB" noProof="1"/>
              <a:t>Deep Matrix Factorization</a:t>
            </a:r>
          </a:p>
          <a:p>
            <a:r>
              <a:rPr lang="en-GB" noProof="1"/>
              <a:t>t-SNE</a:t>
            </a:r>
          </a:p>
          <a:p>
            <a:r>
              <a:rPr lang="en-GB" noProof="1"/>
              <a:t>UMAP</a:t>
            </a:r>
          </a:p>
          <a:p>
            <a:r>
              <a:rPr lang="en-GB" noProof="1"/>
              <a:t>Spectral Embedding</a:t>
            </a:r>
          </a:p>
          <a:p>
            <a:r>
              <a:rPr lang="en-GB" noProof="1"/>
              <a:t>...</a:t>
            </a:r>
          </a:p>
          <a:p>
            <a:endParaRPr lang="en-GB" noProof="1"/>
          </a:p>
          <a:p>
            <a:pPr algn="r"/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380300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11F75-BC67-8CF4-2A63-DB93F1B0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1A3120-21C8-C981-2328-90924234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What is a Factor Model Intuitively?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5FCBC-1C92-0D01-9451-48B4E773F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FB080-5B11-9C42-8C2B-BE8BE4F681D4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0606D6-A80C-2187-8A69-E143B73F0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11</a:t>
            </a:fld>
            <a:endParaRPr lang="en-GB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29DA55-E961-7DAA-CA9D-FC52B22F61B7}"/>
                  </a:ext>
                </a:extLst>
              </p:cNvPr>
              <p:cNvSpPr txBox="1"/>
              <p:nvPr/>
            </p:nvSpPr>
            <p:spPr>
              <a:xfrm>
                <a:off x="838200" y="1952430"/>
                <a:ext cx="10515600" cy="967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noProof="1"/>
                  <a:t>Factors</a:t>
                </a:r>
                <a:r>
                  <a:rPr lang="en-GB" noProof="1"/>
                  <a:t> can be seen as </a:t>
                </a:r>
                <a:r>
                  <a:rPr lang="en-GB" b="1" noProof="1"/>
                  <a:t>meta-features</a:t>
                </a:r>
                <a:r>
                  <a:rPr lang="en-GB" noProof="1"/>
                  <a:t> that summarise the behaviour of groups of features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noProof="1"/>
                  <a:t>The reduced </a:t>
                </a:r>
                <a:r>
                  <a:rPr lang="en-GB" b="1" noProof="1">
                    <a:solidFill>
                      <a:schemeClr val="accent6"/>
                    </a:solidFill>
                  </a:rPr>
                  <a:t>data</a:t>
                </a:r>
                <a:r>
                  <a:rPr lang="en-GB" noProof="1"/>
                  <a:t> is represented as </a:t>
                </a:r>
                <a:r>
                  <a:rPr lang="en-GB" b="1" noProof="1">
                    <a:solidFill>
                      <a:schemeClr val="accent5"/>
                    </a:solidFill>
                  </a:rPr>
                  <a:t>factor scores</a:t>
                </a:r>
                <a:r>
                  <a:rPr lang="en-GB" noProof="1">
                    <a:solidFill>
                      <a:schemeClr val="accent5"/>
                    </a:solidFill>
                  </a:rPr>
                  <a:t> </a:t>
                </a:r>
                <a:r>
                  <a:rPr lang="en-GB" noProof="1"/>
                  <a:t>(a matrix of dimensions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noProof="1" smtClean="0">
                            <a:latin typeface="Cambria Math" panose="02040503050406030204" pitchFamily="18" charset="0"/>
                          </a:rPr>
                          <m:t>𝑠𝑎𝑚𝑝𝑙𝑒𝑠</m:t>
                        </m:r>
                      </m:sub>
                    </m:sSub>
                    <m:r>
                      <a:rPr lang="en-GB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𝑓𝑎𝑐𝑡𝑜𝑟𝑠</m:t>
                        </m:r>
                      </m:sub>
                    </m:sSub>
                  </m:oMath>
                </a14:m>
                <a:endParaRPr lang="en-GB" noProof="1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noProof="1"/>
                  <a:t>Factors are linked to all the original features via </a:t>
                </a:r>
                <a:r>
                  <a:rPr lang="en-GB" b="1" noProof="1">
                    <a:solidFill>
                      <a:schemeClr val="accent2"/>
                    </a:solidFill>
                  </a:rPr>
                  <a:t>factor loadings</a:t>
                </a:r>
                <a:r>
                  <a:rPr lang="en-GB" noProof="1">
                    <a:solidFill>
                      <a:schemeClr val="accent2"/>
                    </a:solidFill>
                  </a:rPr>
                  <a:t> </a:t>
                </a:r>
                <a:r>
                  <a:rPr lang="en-GB" noProof="1"/>
                  <a:t>(a matrix of dimensions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noProof="1" smtClean="0">
                            <a:latin typeface="Cambria Math" panose="02040503050406030204" pitchFamily="18" charset="0"/>
                          </a:rPr>
                          <m:t>𝑓𝑎𝑐𝑡𝑜𝑟𝑠</m:t>
                        </m:r>
                      </m:sub>
                    </m:sSub>
                    <m:r>
                      <a:rPr lang="en-GB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𝑓𝑒𝑎𝑡𝑢𝑟𝑒𝑠</m:t>
                        </m:r>
                      </m:sub>
                    </m:sSub>
                    <m:r>
                      <a:rPr lang="en-US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29DA55-E961-7DAA-CA9D-FC52B22F6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52430"/>
                <a:ext cx="10515600" cy="967829"/>
              </a:xfrm>
              <a:prstGeom prst="rect">
                <a:avLst/>
              </a:prstGeom>
              <a:blipFill>
                <a:blip r:embed="rId2"/>
                <a:stretch>
                  <a:fillRect l="-483" t="-2597" b="-7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74882F1-5DE9-1A4F-754E-6D0DE13339EA}"/>
              </a:ext>
            </a:extLst>
          </p:cNvPr>
          <p:cNvSpPr txBox="1"/>
          <p:nvPr/>
        </p:nvSpPr>
        <p:spPr>
          <a:xfrm>
            <a:off x="5586413" y="-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74FD5D4-D20A-6D9D-9045-E8776E13D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631141"/>
              </p:ext>
            </p:extLst>
          </p:nvPr>
        </p:nvGraphicFramePr>
        <p:xfrm>
          <a:off x="7625756" y="4846070"/>
          <a:ext cx="2294292" cy="5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191">
                  <a:extLst>
                    <a:ext uri="{9D8B030D-6E8A-4147-A177-3AD203B41FA5}">
                      <a16:colId xmlns:a16="http://schemas.microsoft.com/office/drawing/2014/main" val="76208718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23725109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93165921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854354326"/>
                    </a:ext>
                  </a:extLst>
                </a:gridCol>
                <a:gridCol w="190703">
                  <a:extLst>
                    <a:ext uri="{9D8B030D-6E8A-4147-A177-3AD203B41FA5}">
                      <a16:colId xmlns:a16="http://schemas.microsoft.com/office/drawing/2014/main" val="1187389015"/>
                    </a:ext>
                  </a:extLst>
                </a:gridCol>
                <a:gridCol w="191679">
                  <a:extLst>
                    <a:ext uri="{9D8B030D-6E8A-4147-A177-3AD203B41FA5}">
                      <a16:colId xmlns:a16="http://schemas.microsoft.com/office/drawing/2014/main" val="2635049856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986488119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039961806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29531665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090271469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32191186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43745340"/>
                    </a:ext>
                  </a:extLst>
                </a:gridCol>
              </a:tblGrid>
              <a:tr h="18216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946982"/>
                  </a:ext>
                </a:extLst>
              </a:tr>
              <a:tr h="18216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15552"/>
                  </a:ext>
                </a:extLst>
              </a:tr>
              <a:tr h="18216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74934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539C406-D50F-D567-1010-02E0D1FB3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417160"/>
              </p:ext>
            </p:extLst>
          </p:nvPr>
        </p:nvGraphicFramePr>
        <p:xfrm>
          <a:off x="2226909" y="4208899"/>
          <a:ext cx="2294292" cy="1818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191">
                  <a:extLst>
                    <a:ext uri="{9D8B030D-6E8A-4147-A177-3AD203B41FA5}">
                      <a16:colId xmlns:a16="http://schemas.microsoft.com/office/drawing/2014/main" val="3660432776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338859449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3369189402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813382191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485323448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731915465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370296701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4082218467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76208718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29531665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85746831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43745340"/>
                    </a:ext>
                  </a:extLst>
                </a:gridCol>
              </a:tblGrid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94698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1555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83950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19183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572676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59938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9403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017889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554018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7493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5EEEB3C-4FD0-8E03-57E7-A809B531B197}"/>
              </a:ext>
            </a:extLst>
          </p:cNvPr>
          <p:cNvSpPr txBox="1"/>
          <p:nvPr/>
        </p:nvSpPr>
        <p:spPr>
          <a:xfrm>
            <a:off x="5362705" y="6026105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Factors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495FCA-5C2D-A5ED-E2C7-7A5560068D6B}"/>
              </a:ext>
            </a:extLst>
          </p:cNvPr>
          <p:cNvSpPr txBox="1"/>
          <p:nvPr/>
        </p:nvSpPr>
        <p:spPr>
          <a:xfrm rot="5400000">
            <a:off x="6746861" y="4935201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Factors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69C854-6A30-B2FE-F177-20BF48D6FE8C}"/>
              </a:ext>
            </a:extLst>
          </p:cNvPr>
          <p:cNvSpPr txBox="1"/>
          <p:nvPr/>
        </p:nvSpPr>
        <p:spPr>
          <a:xfrm rot="5400000">
            <a:off x="4891272" y="4939637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Samples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83644-C092-C985-FE87-CBB3680F3F94}"/>
              </a:ext>
            </a:extLst>
          </p:cNvPr>
          <p:cNvSpPr txBox="1"/>
          <p:nvPr/>
        </p:nvSpPr>
        <p:spPr>
          <a:xfrm>
            <a:off x="8095436" y="5434866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Features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07CFE0-2276-5CF2-B5B1-B1B8C1641F43}"/>
              </a:ext>
            </a:extLst>
          </p:cNvPr>
          <p:cNvSpPr txBox="1"/>
          <p:nvPr/>
        </p:nvSpPr>
        <p:spPr>
          <a:xfrm>
            <a:off x="2690917" y="6026939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E97FFF-6862-B68B-69FC-E2C3F191D3A0}"/>
              </a:ext>
            </a:extLst>
          </p:cNvPr>
          <p:cNvSpPr txBox="1"/>
          <p:nvPr/>
        </p:nvSpPr>
        <p:spPr>
          <a:xfrm rot="5400000">
            <a:off x="1413804" y="4940471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Samples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875BD15-483B-F463-1796-362519C5B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257379"/>
              </p:ext>
            </p:extLst>
          </p:nvPr>
        </p:nvGraphicFramePr>
        <p:xfrm>
          <a:off x="5766931" y="4208899"/>
          <a:ext cx="546480" cy="1818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160">
                  <a:extLst>
                    <a:ext uri="{9D8B030D-6E8A-4147-A177-3AD203B41FA5}">
                      <a16:colId xmlns:a16="http://schemas.microsoft.com/office/drawing/2014/main" val="762087184"/>
                    </a:ext>
                  </a:extLst>
                </a:gridCol>
                <a:gridCol w="182160">
                  <a:extLst>
                    <a:ext uri="{9D8B030D-6E8A-4147-A177-3AD203B41FA5}">
                      <a16:colId xmlns:a16="http://schemas.microsoft.com/office/drawing/2014/main" val="2295316654"/>
                    </a:ext>
                  </a:extLst>
                </a:gridCol>
                <a:gridCol w="182160">
                  <a:extLst>
                    <a:ext uri="{9D8B030D-6E8A-4147-A177-3AD203B41FA5}">
                      <a16:colId xmlns:a16="http://schemas.microsoft.com/office/drawing/2014/main" val="143745340"/>
                    </a:ext>
                  </a:extLst>
                </a:gridCol>
              </a:tblGrid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94698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1555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83950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19183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572676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59938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9403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017889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554018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74934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3F0E934F-C299-DA3C-C8DA-13FD86C0E09E}"/>
              </a:ext>
            </a:extLst>
          </p:cNvPr>
          <p:cNvSpPr txBox="1"/>
          <p:nvPr/>
        </p:nvSpPr>
        <p:spPr>
          <a:xfrm>
            <a:off x="4851807" y="4932836"/>
            <a:ext cx="67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≅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C07C2E-895C-32EE-785A-71C05D909B3E}"/>
              </a:ext>
            </a:extLst>
          </p:cNvPr>
          <p:cNvSpPr txBox="1"/>
          <p:nvPr/>
        </p:nvSpPr>
        <p:spPr>
          <a:xfrm>
            <a:off x="6609465" y="4932836"/>
            <a:ext cx="391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⨉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4F0352-F0ED-C752-EC0D-274A953A9B0B}"/>
              </a:ext>
            </a:extLst>
          </p:cNvPr>
          <p:cNvSpPr txBox="1"/>
          <p:nvPr/>
        </p:nvSpPr>
        <p:spPr>
          <a:xfrm>
            <a:off x="2629975" y="6026105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2742541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24346-3C86-2DA5-F5E8-F1142AAE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B1C21-9AFB-5937-0C9E-2CE8C424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An Example: Movie Recommendations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6890A-B476-D7D8-C33E-344B410FD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FB080-5B11-9C42-8C2B-BE8BE4F681D4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FD00A9-0CFF-559B-2F5C-9346C026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12</a:t>
            </a:fld>
            <a:endParaRPr lang="en-GB" noProof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186039-88A0-0613-E9AD-0993F1C81E36}"/>
              </a:ext>
            </a:extLst>
          </p:cNvPr>
          <p:cNvSpPr txBox="1"/>
          <p:nvPr/>
        </p:nvSpPr>
        <p:spPr>
          <a:xfrm>
            <a:off x="5586413" y="-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7665677-1C05-922E-CD04-5A271E369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826712"/>
              </p:ext>
            </p:extLst>
          </p:nvPr>
        </p:nvGraphicFramePr>
        <p:xfrm>
          <a:off x="7625756" y="4848949"/>
          <a:ext cx="2294292" cy="5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191">
                  <a:extLst>
                    <a:ext uri="{9D8B030D-6E8A-4147-A177-3AD203B41FA5}">
                      <a16:colId xmlns:a16="http://schemas.microsoft.com/office/drawing/2014/main" val="76208718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23725109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93165921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854354326"/>
                    </a:ext>
                  </a:extLst>
                </a:gridCol>
                <a:gridCol w="190703">
                  <a:extLst>
                    <a:ext uri="{9D8B030D-6E8A-4147-A177-3AD203B41FA5}">
                      <a16:colId xmlns:a16="http://schemas.microsoft.com/office/drawing/2014/main" val="1187389015"/>
                    </a:ext>
                  </a:extLst>
                </a:gridCol>
                <a:gridCol w="191679">
                  <a:extLst>
                    <a:ext uri="{9D8B030D-6E8A-4147-A177-3AD203B41FA5}">
                      <a16:colId xmlns:a16="http://schemas.microsoft.com/office/drawing/2014/main" val="2635049856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986488119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039961806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29531665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090271469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32191186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43745340"/>
                    </a:ext>
                  </a:extLst>
                </a:gridCol>
              </a:tblGrid>
              <a:tr h="18216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946982"/>
                  </a:ext>
                </a:extLst>
              </a:tr>
              <a:tr h="18216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15552"/>
                  </a:ext>
                </a:extLst>
              </a:tr>
              <a:tr h="18216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74934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A13CDEF-ADE7-D457-C327-D6FE5713A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747337"/>
              </p:ext>
            </p:extLst>
          </p:nvPr>
        </p:nvGraphicFramePr>
        <p:xfrm>
          <a:off x="2226909" y="4211778"/>
          <a:ext cx="2294292" cy="1818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191">
                  <a:extLst>
                    <a:ext uri="{9D8B030D-6E8A-4147-A177-3AD203B41FA5}">
                      <a16:colId xmlns:a16="http://schemas.microsoft.com/office/drawing/2014/main" val="3660432776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338859449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3369189402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813382191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485323448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731915465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370296701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4082218467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76208718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29531665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85746831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43745340"/>
                    </a:ext>
                  </a:extLst>
                </a:gridCol>
              </a:tblGrid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94698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1555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83950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19183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572676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59938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9403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017889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554018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7493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0DB26F8-568E-F7F3-4ED1-51137DE5F0E6}"/>
              </a:ext>
            </a:extLst>
          </p:cNvPr>
          <p:cNvSpPr txBox="1"/>
          <p:nvPr/>
        </p:nvSpPr>
        <p:spPr>
          <a:xfrm>
            <a:off x="5362705" y="6028984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Factors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708792-4E84-656C-41B4-9D47510437F9}"/>
              </a:ext>
            </a:extLst>
          </p:cNvPr>
          <p:cNvSpPr txBox="1"/>
          <p:nvPr/>
        </p:nvSpPr>
        <p:spPr>
          <a:xfrm rot="5400000">
            <a:off x="6746861" y="4938080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Factors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61B9A0-2904-FF80-B915-495CEEF72377}"/>
              </a:ext>
            </a:extLst>
          </p:cNvPr>
          <p:cNvSpPr txBox="1"/>
          <p:nvPr/>
        </p:nvSpPr>
        <p:spPr>
          <a:xfrm rot="5400000">
            <a:off x="4891272" y="4942516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35834D-475B-3E0B-6ECF-F4CA98055FEC}"/>
              </a:ext>
            </a:extLst>
          </p:cNvPr>
          <p:cNvSpPr txBox="1"/>
          <p:nvPr/>
        </p:nvSpPr>
        <p:spPr>
          <a:xfrm>
            <a:off x="8095436" y="5437745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Movies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4C49E4-BB46-A492-90D5-A5152C71C7EE}"/>
              </a:ext>
            </a:extLst>
          </p:cNvPr>
          <p:cNvSpPr txBox="1"/>
          <p:nvPr/>
        </p:nvSpPr>
        <p:spPr>
          <a:xfrm>
            <a:off x="2690917" y="6029818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36F1D9-2AB4-5ED6-31B0-D07186F62378}"/>
              </a:ext>
            </a:extLst>
          </p:cNvPr>
          <p:cNvSpPr txBox="1"/>
          <p:nvPr/>
        </p:nvSpPr>
        <p:spPr>
          <a:xfrm rot="5400000">
            <a:off x="1182250" y="4935300"/>
            <a:ext cx="1818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Users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77F3EA36-DA2C-7D24-4999-455B297B3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703710"/>
              </p:ext>
            </p:extLst>
          </p:nvPr>
        </p:nvGraphicFramePr>
        <p:xfrm>
          <a:off x="5766931" y="4211778"/>
          <a:ext cx="546480" cy="1818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160">
                  <a:extLst>
                    <a:ext uri="{9D8B030D-6E8A-4147-A177-3AD203B41FA5}">
                      <a16:colId xmlns:a16="http://schemas.microsoft.com/office/drawing/2014/main" val="762087184"/>
                    </a:ext>
                  </a:extLst>
                </a:gridCol>
                <a:gridCol w="182160">
                  <a:extLst>
                    <a:ext uri="{9D8B030D-6E8A-4147-A177-3AD203B41FA5}">
                      <a16:colId xmlns:a16="http://schemas.microsoft.com/office/drawing/2014/main" val="2295316654"/>
                    </a:ext>
                  </a:extLst>
                </a:gridCol>
                <a:gridCol w="182160">
                  <a:extLst>
                    <a:ext uri="{9D8B030D-6E8A-4147-A177-3AD203B41FA5}">
                      <a16:colId xmlns:a16="http://schemas.microsoft.com/office/drawing/2014/main" val="143745340"/>
                    </a:ext>
                  </a:extLst>
                </a:gridCol>
              </a:tblGrid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94698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1555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83950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19183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572676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59938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9403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017889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554018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74934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3DC822A4-1BCE-DE0C-97CD-E44BDA4F32D3}"/>
              </a:ext>
            </a:extLst>
          </p:cNvPr>
          <p:cNvSpPr txBox="1"/>
          <p:nvPr/>
        </p:nvSpPr>
        <p:spPr>
          <a:xfrm>
            <a:off x="4851807" y="4935715"/>
            <a:ext cx="67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FD6853-171A-97C6-D4C7-2E9365319964}"/>
              </a:ext>
            </a:extLst>
          </p:cNvPr>
          <p:cNvSpPr txBox="1"/>
          <p:nvPr/>
        </p:nvSpPr>
        <p:spPr>
          <a:xfrm>
            <a:off x="6609465" y="4935715"/>
            <a:ext cx="391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⨉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FA96EA-C1AD-F852-3541-FCB8573185C8}"/>
              </a:ext>
            </a:extLst>
          </p:cNvPr>
          <p:cNvSpPr txBox="1"/>
          <p:nvPr/>
        </p:nvSpPr>
        <p:spPr>
          <a:xfrm>
            <a:off x="2704364" y="6028984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Movies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1336EE-F262-3C5A-1F77-8B279DC6FA4F}"/>
              </a:ext>
            </a:extLst>
          </p:cNvPr>
          <p:cNvSpPr txBox="1"/>
          <p:nvPr/>
        </p:nvSpPr>
        <p:spPr>
          <a:xfrm>
            <a:off x="2275935" y="3726125"/>
            <a:ext cx="224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User Movie Ratings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E46C23-FDEF-EF76-D9DF-829E5FFAA74C}"/>
              </a:ext>
            </a:extLst>
          </p:cNvPr>
          <p:cNvSpPr txBox="1"/>
          <p:nvPr/>
        </p:nvSpPr>
        <p:spPr>
          <a:xfrm>
            <a:off x="838200" y="1952430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ea typeface="Cambria Math" panose="02040503050406030204" pitchFamily="18" charset="0"/>
              </a:rPr>
              <a:t>A streaming service has access to the </a:t>
            </a:r>
            <a:r>
              <a:rPr lang="en-US" b="1" noProof="1">
                <a:ea typeface="Cambria Math" panose="02040503050406030204" pitchFamily="18" charset="0"/>
              </a:rPr>
              <a:t>star ratings </a:t>
            </a:r>
            <a:r>
              <a:rPr lang="en-US" noProof="1">
                <a:ea typeface="Cambria Math" panose="02040503050406030204" pitchFamily="18" charset="0"/>
              </a:rPr>
              <a:t>its users have given for different </a:t>
            </a:r>
            <a:r>
              <a:rPr lang="en-US" b="1" noProof="1">
                <a:ea typeface="Cambria Math" panose="02040503050406030204" pitchFamily="18" charset="0"/>
              </a:rPr>
              <a:t>movies</a:t>
            </a:r>
            <a:r>
              <a:rPr lang="en-US" noProof="1">
                <a:ea typeface="Cambria Math" panose="020405030504060302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ea typeface="Cambria Math" panose="02040503050406030204" pitchFamily="18" charset="0"/>
              </a:rPr>
              <a:t>The service wants to know </a:t>
            </a:r>
            <a:r>
              <a:rPr lang="en-US" b="1" noProof="1">
                <a:ea typeface="Cambria Math" panose="02040503050406030204" pitchFamily="18" charset="0"/>
              </a:rPr>
              <a:t>how much a user would like another movie </a:t>
            </a:r>
            <a:r>
              <a:rPr lang="en-US" noProof="1">
                <a:ea typeface="Cambria Math" panose="02040503050406030204" pitchFamily="18" charset="0"/>
              </a:rPr>
              <a:t>to provide better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ea typeface="Cambria Math" panose="02040503050406030204" pitchFamily="18" charset="0"/>
              </a:rPr>
              <a:t>What could the factors represent in this situation? Do they always represent something “real”?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ea typeface="Cambria Math" panose="02040503050406030204" pitchFamily="18" charset="0"/>
              </a:rPr>
              <a:t>What about positive and negative factor scores and loadings?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ea typeface="Cambria Math" panose="02040503050406030204" pitchFamily="18" charset="0"/>
              </a:rPr>
              <a:t>How could movie ratings be predicted?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375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82672-2E91-492F-0E30-DB2739520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CC4228-6AC4-E33E-4FEA-A3EA1A375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What is a Factor Model Mathematically?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8B0647-3E12-F025-0AE8-C8AD23253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noProof="1"/>
              <a:t>Factor </a:t>
            </a:r>
            <a:r>
              <a:rPr lang="en-GB" sz="1800" noProof="1">
                <a:solidFill>
                  <a:schemeClr val="accent5"/>
                </a:solidFill>
              </a:rPr>
              <a:t>scores</a:t>
            </a:r>
            <a:r>
              <a:rPr lang="en-GB" sz="1800" noProof="1"/>
              <a:t> and </a:t>
            </a:r>
            <a:r>
              <a:rPr lang="en-GB" sz="1800" noProof="1">
                <a:solidFill>
                  <a:schemeClr val="accent2"/>
                </a:solidFill>
              </a:rPr>
              <a:t>loadings</a:t>
            </a:r>
            <a:r>
              <a:rPr lang="en-GB" sz="1800" noProof="1"/>
              <a:t> are called </a:t>
            </a:r>
            <a:r>
              <a:rPr lang="en-GB" sz="1800" b="1" noProof="1"/>
              <a:t>latent variables</a:t>
            </a:r>
            <a:endParaRPr lang="en-GB" sz="1800" noProof="1"/>
          </a:p>
          <a:p>
            <a:r>
              <a:rPr lang="en-GB" sz="1800" noProof="1"/>
              <a:t>Given the </a:t>
            </a:r>
            <a:r>
              <a:rPr lang="en-GB" sz="1800" b="1" noProof="1"/>
              <a:t>observed </a:t>
            </a:r>
            <a:r>
              <a:rPr lang="en-GB" sz="1800" b="1" noProof="1">
                <a:solidFill>
                  <a:schemeClr val="accent6"/>
                </a:solidFill>
              </a:rPr>
              <a:t>data</a:t>
            </a:r>
            <a:r>
              <a:rPr lang="en-GB" sz="1800" noProof="1"/>
              <a:t>, the goal is to </a:t>
            </a:r>
            <a:r>
              <a:rPr lang="en-GB" sz="1800" b="1" noProof="1"/>
              <a:t>infer</a:t>
            </a:r>
            <a:r>
              <a:rPr lang="en-GB" sz="1800" noProof="1"/>
              <a:t> the latent variables</a:t>
            </a:r>
          </a:p>
          <a:p>
            <a:endParaRPr lang="en-GB" sz="1800" b="1" noProof="1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E64BD-B3A3-D909-23C8-6064E12CD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6774-A431-714A-93C6-B898D597FD87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D2B398-E4B1-5837-6CD3-94EE584B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13</a:t>
            </a:fld>
            <a:endParaRPr lang="en-GB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9E0A24-F6B3-2303-97C1-845AA2ED2F80}"/>
              </a:ext>
            </a:extLst>
          </p:cNvPr>
          <p:cNvSpPr txBox="1"/>
          <p:nvPr/>
        </p:nvSpPr>
        <p:spPr>
          <a:xfrm>
            <a:off x="6390959" y="3213429"/>
            <a:ext cx="2757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1"/>
              <a:t>Probabilistic Formulation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D8191D-384D-5E33-0D1C-AC62C47C8A1B}"/>
                  </a:ext>
                </a:extLst>
              </p:cNvPr>
              <p:cNvSpPr txBox="1"/>
              <p:nvPr/>
            </p:nvSpPr>
            <p:spPr>
              <a:xfrm>
                <a:off x="6769580" y="4279875"/>
                <a:ext cx="2000656" cy="808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D8191D-384D-5E33-0D1C-AC62C47C8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580" y="4279875"/>
                <a:ext cx="2000656" cy="808042"/>
              </a:xfrm>
              <a:prstGeom prst="rect">
                <a:avLst/>
              </a:prstGeom>
              <a:blipFill>
                <a:blip r:embed="rId2"/>
                <a:stretch>
                  <a:fillRect l="-3145" t="-106154" b="-16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2B4226-0879-0E06-4F17-F8CB0A2B9979}"/>
                  </a:ext>
                </a:extLst>
              </p:cNvPr>
              <p:cNvSpPr txBox="1"/>
              <p:nvPr/>
            </p:nvSpPr>
            <p:spPr>
              <a:xfrm>
                <a:off x="6769580" y="3824590"/>
                <a:ext cx="2000656" cy="2879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2B4226-0879-0E06-4F17-F8CB0A2B9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580" y="3824590"/>
                <a:ext cx="2000656" cy="287964"/>
              </a:xfrm>
              <a:prstGeom prst="rect">
                <a:avLst/>
              </a:prstGeom>
              <a:blipFill>
                <a:blip r:embed="rId3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B10CF66-D063-7B15-71BF-E04F842AD3C5}"/>
              </a:ext>
            </a:extLst>
          </p:cNvPr>
          <p:cNvSpPr/>
          <p:nvPr/>
        </p:nvSpPr>
        <p:spPr>
          <a:xfrm>
            <a:off x="6096000" y="3031010"/>
            <a:ext cx="3264424" cy="312776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23B76E-18CA-8ED3-7D40-9A5CAF58EB99}"/>
                  </a:ext>
                </a:extLst>
              </p:cNvPr>
              <p:cNvSpPr txBox="1"/>
              <p:nvPr/>
            </p:nvSpPr>
            <p:spPr>
              <a:xfrm>
                <a:off x="6769579" y="5176671"/>
                <a:ext cx="2000656" cy="2879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23B76E-18CA-8ED3-7D40-9A5CAF58E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579" y="5176671"/>
                <a:ext cx="2000656" cy="287964"/>
              </a:xfrm>
              <a:prstGeom prst="rect">
                <a:avLst/>
              </a:prstGeom>
              <a:blipFill>
                <a:blip r:embed="rId4"/>
                <a:stretch>
                  <a:fillRect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3B71BD-E632-A650-0BB5-11D515420425}"/>
                  </a:ext>
                </a:extLst>
              </p:cNvPr>
              <p:cNvSpPr txBox="1"/>
              <p:nvPr/>
            </p:nvSpPr>
            <p:spPr>
              <a:xfrm>
                <a:off x="6790375" y="5615355"/>
                <a:ext cx="2000656" cy="2879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3B71BD-E632-A650-0BB5-11D515420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375" y="5615355"/>
                <a:ext cx="2000656" cy="287964"/>
              </a:xfrm>
              <a:prstGeom prst="rect">
                <a:avLst/>
              </a:prstGeom>
              <a:blipFill>
                <a:blip r:embed="rId5"/>
                <a:stretch>
                  <a:fillRect t="-434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F1BDC3-8DC9-9B26-0C57-5BF37580EF03}"/>
                  </a:ext>
                </a:extLst>
              </p:cNvPr>
              <p:cNvSpPr txBox="1"/>
              <p:nvPr/>
            </p:nvSpPr>
            <p:spPr>
              <a:xfrm>
                <a:off x="2240805" y="3806807"/>
                <a:ext cx="2000656" cy="808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F1BDC3-8DC9-9B26-0C57-5BF37580E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805" y="3806807"/>
                <a:ext cx="2000656" cy="808042"/>
              </a:xfrm>
              <a:prstGeom prst="rect">
                <a:avLst/>
              </a:prstGeom>
              <a:blipFill>
                <a:blip r:embed="rId6"/>
                <a:stretch>
                  <a:fillRect l="-3774" t="-106154" b="-16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3E1F2753-93D1-2593-4590-664DAEEB539C}"/>
              </a:ext>
            </a:extLst>
          </p:cNvPr>
          <p:cNvGrpSpPr/>
          <p:nvPr/>
        </p:nvGrpSpPr>
        <p:grpSpPr>
          <a:xfrm>
            <a:off x="1563327" y="5062073"/>
            <a:ext cx="3413255" cy="923330"/>
            <a:chOff x="3950876" y="5248791"/>
            <a:chExt cx="3028771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A53F257-D8A9-CCF6-8EA4-78B90390EE2B}"/>
                    </a:ext>
                  </a:extLst>
                </p:cNvPr>
                <p:cNvSpPr txBox="1"/>
                <p:nvPr/>
              </p:nvSpPr>
              <p:spPr>
                <a:xfrm>
                  <a:off x="4022316" y="5327096"/>
                  <a:ext cx="1001941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𝑁𝑥𝐷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A53F257-D8A9-CCF6-8EA4-78B90390E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2316" y="5327096"/>
                  <a:ext cx="1001941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750" t="-4348" r="-2500"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560DFDE-A50E-9A0B-8BDF-091ABBEA9043}"/>
                    </a:ext>
                  </a:extLst>
                </p:cNvPr>
                <p:cNvSpPr txBox="1"/>
                <p:nvPr/>
              </p:nvSpPr>
              <p:spPr>
                <a:xfrm>
                  <a:off x="4036604" y="5587830"/>
                  <a:ext cx="100130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𝑁𝑥𝐾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560DFDE-A50E-9A0B-8BDF-091ABBEA90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604" y="5587830"/>
                  <a:ext cx="100130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704" t="-9091" r="-1235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745BCA1-0886-35BA-26FD-CA3F88F87E16}"/>
                    </a:ext>
                  </a:extLst>
                </p:cNvPr>
                <p:cNvSpPr txBox="1"/>
                <p:nvPr/>
              </p:nvSpPr>
              <p:spPr>
                <a:xfrm>
                  <a:off x="3950876" y="5848564"/>
                  <a:ext cx="108068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𝐾𝑥𝐷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745BCA1-0886-35BA-26FD-CA3F88F87E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0876" y="5848564"/>
                  <a:ext cx="108068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4651" t="-4348" r="-1163"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D71716-2395-5436-E707-31B3403F241A}"/>
                </a:ext>
              </a:extLst>
            </p:cNvPr>
            <p:cNvSpPr txBox="1"/>
            <p:nvPr/>
          </p:nvSpPr>
          <p:spPr>
            <a:xfrm>
              <a:off x="5212352" y="5248791"/>
              <a:ext cx="176729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noProof="1"/>
                <a:t>O</a:t>
              </a:r>
              <a:r>
                <a:rPr lang="en-GB" sz="1800" noProof="1"/>
                <a:t>bserved </a:t>
              </a:r>
              <a:r>
                <a:rPr lang="en-GB" sz="1800" noProof="1">
                  <a:solidFill>
                    <a:schemeClr val="accent6"/>
                  </a:solidFill>
                </a:rPr>
                <a:t>data</a:t>
              </a:r>
            </a:p>
            <a:p>
              <a:r>
                <a:rPr lang="en-GB" noProof="1"/>
                <a:t>Factor </a:t>
              </a:r>
              <a:r>
                <a:rPr lang="en-GB" noProof="1">
                  <a:solidFill>
                    <a:schemeClr val="accent5"/>
                  </a:solidFill>
                </a:rPr>
                <a:t>scores</a:t>
              </a:r>
            </a:p>
            <a:p>
              <a:r>
                <a:rPr lang="en-GB" noProof="1"/>
                <a:t>Factor </a:t>
              </a:r>
              <a:r>
                <a:rPr lang="en-GB" noProof="1">
                  <a:solidFill>
                    <a:schemeClr val="accent2"/>
                  </a:solidFill>
                </a:rPr>
                <a:t>loadings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74F9DEDF-633A-78C6-946E-825053FC89BE}"/>
              </a:ext>
            </a:extLst>
          </p:cNvPr>
          <p:cNvSpPr/>
          <p:nvPr/>
        </p:nvSpPr>
        <p:spPr>
          <a:xfrm>
            <a:off x="1608921" y="3028765"/>
            <a:ext cx="3264424" cy="175349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5BD54D-F741-4C01-81C2-11CF31B4B223}"/>
              </a:ext>
            </a:extLst>
          </p:cNvPr>
          <p:cNvSpPr txBox="1"/>
          <p:nvPr/>
        </p:nvSpPr>
        <p:spPr>
          <a:xfrm>
            <a:off x="1916014" y="3213429"/>
            <a:ext cx="2757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noProof="1"/>
              <a:t>Matrix Factorisation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27759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B7D15-C117-F1A9-E699-447EAC76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3CA1AA-FCE6-D4C7-73A5-7DB3703E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Multi-Omics Factor Analysis (MOFA)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6329D-7722-AB22-0238-37E93A10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F876-D6AB-F548-80BF-5F7B6C93B7AC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C699E-9A44-EC12-121D-D1CDA45F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14</a:t>
            </a:fld>
            <a:endParaRPr lang="en-GB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43D19A-D657-4D63-E1CA-639F1F422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870" y="1690688"/>
            <a:ext cx="5595730" cy="44847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4ADB74-4B26-30A6-F3A9-0D72F020D320}"/>
              </a:ext>
            </a:extLst>
          </p:cNvPr>
          <p:cNvSpPr txBox="1"/>
          <p:nvPr/>
        </p:nvSpPr>
        <p:spPr>
          <a:xfrm>
            <a:off x="2498035" y="6338857"/>
            <a:ext cx="7195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noProof="1"/>
              <a:t>Argelaguet, Ricard, et al. "Multi‐Omics Factor Analysis—a framework for unsupervised integration of multi‐omics data sets." </a:t>
            </a:r>
            <a:r>
              <a:rPr lang="en-GB" sz="1000" i="1" noProof="1"/>
              <a:t>Molecular systems biology</a:t>
            </a:r>
            <a:r>
              <a:rPr lang="en-GB" sz="1000" noProof="1"/>
              <a:t> 14.6 (2018): e8124.</a:t>
            </a:r>
          </a:p>
        </p:txBody>
      </p:sp>
    </p:spTree>
    <p:extLst>
      <p:ext uri="{BB962C8B-B14F-4D97-AF65-F5344CB8AC3E}">
        <p14:creationId xmlns:p14="http://schemas.microsoft.com/office/powerpoint/2010/main" val="4039498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66DB3-F193-F911-16EF-B0FA4CB8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566CB-5DCB-A732-1BF0-840C1A63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MOFA Downstream analysis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49FE31-0ED8-6A74-6F3C-135A58CD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F876-D6AB-F548-80BF-5F7B6C93B7AC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2CCEEB-2855-4993-4EB0-D9291C798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15</a:t>
            </a:fld>
            <a:endParaRPr lang="en-GB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C3D0A-6005-0E44-A0B7-FCEA0BE4BA37}"/>
              </a:ext>
            </a:extLst>
          </p:cNvPr>
          <p:cNvSpPr txBox="1"/>
          <p:nvPr/>
        </p:nvSpPr>
        <p:spPr>
          <a:xfrm>
            <a:off x="2498035" y="6338857"/>
            <a:ext cx="7195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noProof="1"/>
              <a:t>Argelaguet, Ricard, et al. "Multi‐Omics Factor Analysis—a framework for unsupervised integration of multi‐omics data sets." </a:t>
            </a:r>
            <a:r>
              <a:rPr lang="en-GB" sz="1000" i="1" noProof="1"/>
              <a:t>Molecular systems biology</a:t>
            </a:r>
            <a:r>
              <a:rPr lang="en-GB" sz="1000" noProof="1"/>
              <a:t> 14.6 (2018): e8124.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F23F00-E454-6A02-FD44-8A10750BC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844" b="25383"/>
          <a:stretch/>
        </p:blipFill>
        <p:spPr>
          <a:xfrm>
            <a:off x="5644083" y="3513269"/>
            <a:ext cx="4799223" cy="2156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E3181A-1B48-4177-6D16-B65CDE9C4A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544"/>
          <a:stretch/>
        </p:blipFill>
        <p:spPr>
          <a:xfrm>
            <a:off x="900543" y="1527637"/>
            <a:ext cx="4998093" cy="2348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436D13-5D01-6C2E-E9AD-40239CAB03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567" r="41359"/>
          <a:stretch/>
        </p:blipFill>
        <p:spPr>
          <a:xfrm>
            <a:off x="2333367" y="4258464"/>
            <a:ext cx="2832843" cy="1560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3F8667-D426-DAEB-9B34-A955CF87EE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576" t="73567"/>
          <a:stretch/>
        </p:blipFill>
        <p:spPr>
          <a:xfrm>
            <a:off x="7000041" y="1526167"/>
            <a:ext cx="2087308" cy="166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15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A16C-2BEE-7C21-77F5-9FAF6F0E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Gene Set Enrichment Analysis (GSEA)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F08F1-1AE3-1A71-3161-6C4C743A2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864B-A2E3-AA4D-98B4-AEF83461A302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E53FC-DC9F-9590-4214-AED3F3A5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16</a:t>
            </a:fld>
            <a:endParaRPr lang="en-GB" noProof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E26A44-9529-7569-6EB2-89820551D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998170"/>
              </p:ext>
            </p:extLst>
          </p:nvPr>
        </p:nvGraphicFramePr>
        <p:xfrm>
          <a:off x="865243" y="2031087"/>
          <a:ext cx="1802582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1291">
                  <a:extLst>
                    <a:ext uri="{9D8B030D-6E8A-4147-A177-3AD203B41FA5}">
                      <a16:colId xmlns:a16="http://schemas.microsoft.com/office/drawing/2014/main" val="3589863164"/>
                    </a:ext>
                  </a:extLst>
                </a:gridCol>
                <a:gridCol w="901291">
                  <a:extLst>
                    <a:ext uri="{9D8B030D-6E8A-4147-A177-3AD203B41FA5}">
                      <a16:colId xmlns:a16="http://schemas.microsoft.com/office/drawing/2014/main" val="1287271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66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5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44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931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09649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EFC145-3B21-06C0-DB0D-4FB47B849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735995"/>
              </p:ext>
            </p:extLst>
          </p:nvPr>
        </p:nvGraphicFramePr>
        <p:xfrm>
          <a:off x="4938251" y="2031087"/>
          <a:ext cx="1802582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3589863164"/>
                    </a:ext>
                  </a:extLst>
                </a:gridCol>
                <a:gridCol w="811982">
                  <a:extLst>
                    <a:ext uri="{9D8B030D-6E8A-4147-A177-3AD203B41FA5}">
                      <a16:colId xmlns:a16="http://schemas.microsoft.com/office/drawing/2014/main" val="1287271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66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5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44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931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096496"/>
                  </a:ext>
                </a:extLst>
              </a:tr>
            </a:tbl>
          </a:graphicData>
        </a:graphic>
      </p:graphicFrame>
      <p:sp>
        <p:nvSpPr>
          <p:cNvPr id="9" name="Right Arrow 8">
            <a:extLst>
              <a:ext uri="{FF2B5EF4-FFF2-40B4-BE49-F238E27FC236}">
                <a16:creationId xmlns:a16="http://schemas.microsoft.com/office/drawing/2014/main" id="{BA047A85-C333-D4B5-15EC-321AA0CB5414}"/>
              </a:ext>
            </a:extLst>
          </p:cNvPr>
          <p:cNvSpPr/>
          <p:nvPr/>
        </p:nvSpPr>
        <p:spPr>
          <a:xfrm>
            <a:off x="3455421" y="2821764"/>
            <a:ext cx="693175" cy="272845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F38637C-8C36-C239-DD3A-36F6C1F31CB0}"/>
              </a:ext>
            </a:extLst>
          </p:cNvPr>
          <p:cNvSpPr/>
          <p:nvPr/>
        </p:nvSpPr>
        <p:spPr>
          <a:xfrm>
            <a:off x="7649088" y="2821764"/>
            <a:ext cx="693175" cy="272845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FA72FDC-A375-AC6D-A09E-1305AB0C5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640224"/>
              </p:ext>
            </p:extLst>
          </p:nvPr>
        </p:nvGraphicFramePr>
        <p:xfrm>
          <a:off x="9372193" y="2031087"/>
          <a:ext cx="1802582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3589863164"/>
                    </a:ext>
                  </a:extLst>
                </a:gridCol>
                <a:gridCol w="811982">
                  <a:extLst>
                    <a:ext uri="{9D8B030D-6E8A-4147-A177-3AD203B41FA5}">
                      <a16:colId xmlns:a16="http://schemas.microsoft.com/office/drawing/2014/main" val="1287271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66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Gene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5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Gen</a:t>
                      </a:r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e 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44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931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096496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89F8C53C-0AD1-2099-4EE5-122E44A81B99}"/>
              </a:ext>
            </a:extLst>
          </p:cNvPr>
          <p:cNvSpPr/>
          <p:nvPr/>
        </p:nvSpPr>
        <p:spPr>
          <a:xfrm>
            <a:off x="6279955" y="4146073"/>
            <a:ext cx="1657555" cy="1500546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EF5DF7-B1FE-D754-BEA1-8E2CD36ED4A5}"/>
              </a:ext>
            </a:extLst>
          </p:cNvPr>
          <p:cNvSpPr txBox="1"/>
          <p:nvPr/>
        </p:nvSpPr>
        <p:spPr>
          <a:xfrm>
            <a:off x="6533949" y="4434681"/>
            <a:ext cx="11495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Gene 2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Gene 7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Gene 45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F85292A-9A15-01DC-A9D8-571EDF1A1F0C}"/>
              </a:ext>
            </a:extLst>
          </p:cNvPr>
          <p:cNvSpPr/>
          <p:nvPr/>
        </p:nvSpPr>
        <p:spPr>
          <a:xfrm>
            <a:off x="8191504" y="4146073"/>
            <a:ext cx="1657555" cy="1500546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A1DA07-07D2-7C9E-F851-DC8CC0B8E95B}"/>
              </a:ext>
            </a:extLst>
          </p:cNvPr>
          <p:cNvSpPr txBox="1"/>
          <p:nvPr/>
        </p:nvSpPr>
        <p:spPr>
          <a:xfrm>
            <a:off x="8445498" y="4434681"/>
            <a:ext cx="11495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Gene 6</a:t>
            </a:r>
          </a:p>
          <a:p>
            <a:pPr algn="ctr"/>
            <a:r>
              <a:rPr lang="en-US" dirty="0">
                <a:solidFill>
                  <a:schemeClr val="accent5"/>
                </a:solidFill>
              </a:rPr>
              <a:t>Gene 45</a:t>
            </a:r>
          </a:p>
          <a:p>
            <a:pPr algn="ctr"/>
            <a:r>
              <a:rPr lang="en-US" dirty="0">
                <a:solidFill>
                  <a:schemeClr val="accent5"/>
                </a:solidFill>
              </a:rPr>
              <a:t>Gene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3F38B8-ECB6-6B78-37B2-C6A65FC26273}"/>
              </a:ext>
            </a:extLst>
          </p:cNvPr>
          <p:cNvSpPr txBox="1"/>
          <p:nvPr/>
        </p:nvSpPr>
        <p:spPr>
          <a:xfrm>
            <a:off x="6191454" y="5646619"/>
            <a:ext cx="180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Pathway 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5F9E9B-80EC-042E-0C64-2178E9C4A258}"/>
              </a:ext>
            </a:extLst>
          </p:cNvPr>
          <p:cNvSpPr txBox="1"/>
          <p:nvPr/>
        </p:nvSpPr>
        <p:spPr>
          <a:xfrm>
            <a:off x="8118990" y="5646619"/>
            <a:ext cx="180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Pathway 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25A8B0-E291-517C-1FB5-95659D957B0B}"/>
              </a:ext>
            </a:extLst>
          </p:cNvPr>
          <p:cNvCxnSpPr/>
          <p:nvPr/>
        </p:nvCxnSpPr>
        <p:spPr>
          <a:xfrm flipV="1">
            <a:off x="7495869" y="3272956"/>
            <a:ext cx="441641" cy="873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B33B21-54BB-9DF1-F1F4-90E869C87EF2}"/>
              </a:ext>
            </a:extLst>
          </p:cNvPr>
          <p:cNvCxnSpPr>
            <a:cxnSpLocks/>
          </p:cNvCxnSpPr>
          <p:nvPr/>
        </p:nvCxnSpPr>
        <p:spPr>
          <a:xfrm flipH="1" flipV="1">
            <a:off x="8066131" y="3272956"/>
            <a:ext cx="441641" cy="873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B97B4FD-05F7-6592-4220-E4740196BFD0}"/>
              </a:ext>
            </a:extLst>
          </p:cNvPr>
          <p:cNvSpPr txBox="1"/>
          <p:nvPr/>
        </p:nvSpPr>
        <p:spPr>
          <a:xfrm>
            <a:off x="2900717" y="2297156"/>
            <a:ext cx="180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Sorting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46A91E-D920-7B02-B5F3-A9842EAFE2CC}"/>
              </a:ext>
            </a:extLst>
          </p:cNvPr>
          <p:cNvSpPr txBox="1"/>
          <p:nvPr/>
        </p:nvSpPr>
        <p:spPr>
          <a:xfrm>
            <a:off x="7036219" y="2291395"/>
            <a:ext cx="180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GSEA</a:t>
            </a:r>
          </a:p>
        </p:txBody>
      </p:sp>
    </p:spTree>
    <p:extLst>
      <p:ext uri="{BB962C8B-B14F-4D97-AF65-F5344CB8AC3E}">
        <p14:creationId xmlns:p14="http://schemas.microsoft.com/office/powerpoint/2010/main" val="1181597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5B90DB-4D11-F20E-5E70-7E5644FF2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Bayesian Latent Variable Models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058B51A-BB0F-6982-B175-4D374E768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1E8C-5083-5447-A32B-0C1CCBB9375A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3ED84-3C75-82A6-C398-4A6CF67F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17</a:t>
            </a:fld>
            <a:endParaRPr lang="en-GB" noProof="1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09E195C-6BCC-7066-2637-E620273223E6}"/>
              </a:ext>
            </a:extLst>
          </p:cNvPr>
          <p:cNvGrpSpPr/>
          <p:nvPr/>
        </p:nvGrpSpPr>
        <p:grpSpPr>
          <a:xfrm>
            <a:off x="7052719" y="2754037"/>
            <a:ext cx="2403062" cy="2217824"/>
            <a:chOff x="1415405" y="1888067"/>
            <a:chExt cx="2403062" cy="2217824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0EA82B4-2324-78C2-AFC4-A120BD1D38C9}"/>
                </a:ext>
              </a:extLst>
            </p:cNvPr>
            <p:cNvSpPr/>
            <p:nvPr/>
          </p:nvSpPr>
          <p:spPr>
            <a:xfrm>
              <a:off x="1669800" y="2433482"/>
              <a:ext cx="540000" cy="54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74DCD75-B6B1-0CCF-AA23-8D95AEEF176B}"/>
                </a:ext>
              </a:extLst>
            </p:cNvPr>
            <p:cNvSpPr/>
            <p:nvPr/>
          </p:nvSpPr>
          <p:spPr>
            <a:xfrm>
              <a:off x="3041400" y="2433482"/>
              <a:ext cx="540000" cy="54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9AAE4D6-8720-2442-C8C3-8166856CE003}"/>
                </a:ext>
              </a:extLst>
            </p:cNvPr>
            <p:cNvSpPr/>
            <p:nvPr/>
          </p:nvSpPr>
          <p:spPr>
            <a:xfrm>
              <a:off x="2335585" y="3174558"/>
              <a:ext cx="540000" cy="54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6000592-6288-0E7E-D51A-242BCC76D0DC}"/>
                </a:ext>
              </a:extLst>
            </p:cNvPr>
            <p:cNvCxnSpPr>
              <a:cxnSpLocks/>
              <a:stCxn id="2" idx="5"/>
              <a:endCxn id="9" idx="1"/>
            </p:cNvCxnSpPr>
            <p:nvPr/>
          </p:nvCxnSpPr>
          <p:spPr>
            <a:xfrm>
              <a:off x="2130719" y="2894401"/>
              <a:ext cx="283947" cy="3592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2452617-0ADA-D20C-40EC-405C62A2DA54}"/>
                </a:ext>
              </a:extLst>
            </p:cNvPr>
            <p:cNvCxnSpPr>
              <a:stCxn id="3" idx="3"/>
              <a:endCxn id="9" idx="7"/>
            </p:cNvCxnSpPr>
            <p:nvPr/>
          </p:nvCxnSpPr>
          <p:spPr>
            <a:xfrm flipH="1">
              <a:off x="2796504" y="2894401"/>
              <a:ext cx="323977" cy="3592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AA8C020-8348-C903-D1D5-69983FCE77D0}"/>
                </a:ext>
              </a:extLst>
            </p:cNvPr>
            <p:cNvSpPr txBox="1"/>
            <p:nvPr/>
          </p:nvSpPr>
          <p:spPr>
            <a:xfrm>
              <a:off x="3125544" y="2518816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0836E2-EF7E-650B-C52C-6088A599C551}"/>
                </a:ext>
              </a:extLst>
            </p:cNvPr>
            <p:cNvSpPr txBox="1"/>
            <p:nvPr/>
          </p:nvSpPr>
          <p:spPr>
            <a:xfrm>
              <a:off x="1793766" y="2518816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60E1F06-9182-D77F-B00C-5CDEBB356DA0}"/>
                </a:ext>
              </a:extLst>
            </p:cNvPr>
            <p:cNvSpPr txBox="1"/>
            <p:nvPr/>
          </p:nvSpPr>
          <p:spPr>
            <a:xfrm>
              <a:off x="2457147" y="3259892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3B56F93-898C-4F1C-4742-80F60736402D}"/>
                </a:ext>
              </a:extLst>
            </p:cNvPr>
            <p:cNvSpPr/>
            <p:nvPr/>
          </p:nvSpPr>
          <p:spPr>
            <a:xfrm>
              <a:off x="1540933" y="2150533"/>
              <a:ext cx="1454656" cy="1862667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02A55586-7FE9-49DA-EF45-4B6A2A9778C1}"/>
                </a:ext>
              </a:extLst>
            </p:cNvPr>
            <p:cNvSpPr/>
            <p:nvPr/>
          </p:nvSpPr>
          <p:spPr>
            <a:xfrm>
              <a:off x="2270953" y="2243224"/>
              <a:ext cx="1417559" cy="1862667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9E74C4A0-094D-A60E-DC7E-A265E90768FD}"/>
                </a:ext>
              </a:extLst>
            </p:cNvPr>
            <p:cNvSpPr/>
            <p:nvPr/>
          </p:nvSpPr>
          <p:spPr>
            <a:xfrm>
              <a:off x="1415405" y="1888067"/>
              <a:ext cx="2403062" cy="1193800"/>
            </a:xfrm>
            <a:prstGeom prst="round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8CFCAC3-F4D2-2C7B-83AF-7455AB507F9C}"/>
                </a:ext>
              </a:extLst>
            </p:cNvPr>
            <p:cNvSpPr txBox="1"/>
            <p:nvPr/>
          </p:nvSpPr>
          <p:spPr>
            <a:xfrm>
              <a:off x="3351727" y="3714558"/>
              <a:ext cx="3273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BEE421-8B2D-F4D4-6840-2EEE0DFA2FF5}"/>
                </a:ext>
              </a:extLst>
            </p:cNvPr>
            <p:cNvSpPr txBox="1"/>
            <p:nvPr/>
          </p:nvSpPr>
          <p:spPr>
            <a:xfrm>
              <a:off x="1630099" y="3591059"/>
              <a:ext cx="3337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2A6F4CA-EE27-19B6-4B89-B96430B7375D}"/>
                </a:ext>
              </a:extLst>
            </p:cNvPr>
            <p:cNvSpPr txBox="1"/>
            <p:nvPr/>
          </p:nvSpPr>
          <p:spPr>
            <a:xfrm>
              <a:off x="3415919" y="1888067"/>
              <a:ext cx="304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K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3C072DBA-F560-FB93-1325-26E7126FC6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01113" y="2839800"/>
            <a:ext cx="1958564" cy="237164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1F95B4C-EDA9-1C23-825E-FC6E8AE1BFAC}"/>
              </a:ext>
            </a:extLst>
          </p:cNvPr>
          <p:cNvSpPr txBox="1"/>
          <p:nvPr/>
        </p:nvSpPr>
        <p:spPr>
          <a:xfrm>
            <a:off x="1641210" y="1993574"/>
            <a:ext cx="3031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Generative Model</a:t>
            </a:r>
          </a:p>
          <a:p>
            <a:pPr algn="ctr"/>
            <a:r>
              <a:rPr lang="en-US" dirty="0"/>
              <a:t>(“Telling a story of the data”)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081869-A483-281F-4B3E-807C5C7FC4FD}"/>
              </a:ext>
            </a:extLst>
          </p:cNvPr>
          <p:cNvSpPr txBox="1"/>
          <p:nvPr/>
        </p:nvSpPr>
        <p:spPr>
          <a:xfrm>
            <a:off x="7041368" y="1989352"/>
            <a:ext cx="240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Graphical Model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F2C5549-4401-C119-AF4C-827CB3F6AD05}"/>
              </a:ext>
            </a:extLst>
          </p:cNvPr>
          <p:cNvSpPr/>
          <p:nvPr/>
        </p:nvSpPr>
        <p:spPr>
          <a:xfrm>
            <a:off x="8678714" y="404052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021F9E-4951-F77E-9648-44940B68D34F}"/>
              </a:ext>
            </a:extLst>
          </p:cNvPr>
          <p:cNvSpPr txBox="1"/>
          <p:nvPr/>
        </p:nvSpPr>
        <p:spPr>
          <a:xfrm>
            <a:off x="8803482" y="412586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Σ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BA0C961-1B69-26DF-0F35-DCCC96C92916}"/>
              </a:ext>
            </a:extLst>
          </p:cNvPr>
          <p:cNvCxnSpPr>
            <a:cxnSpLocks/>
            <a:stCxn id="34" idx="2"/>
            <a:endCxn id="9" idx="6"/>
          </p:cNvCxnSpPr>
          <p:nvPr/>
        </p:nvCxnSpPr>
        <p:spPr>
          <a:xfrm flipH="1">
            <a:off x="8512899" y="4310528"/>
            <a:ext cx="165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546B54F3-6D49-863E-6A82-AC7AC87F129C}"/>
              </a:ext>
            </a:extLst>
          </p:cNvPr>
          <p:cNvSpPr/>
          <p:nvPr/>
        </p:nvSpPr>
        <p:spPr>
          <a:xfrm>
            <a:off x="1846504" y="4120586"/>
            <a:ext cx="502920" cy="117729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C59CDA-9798-8437-D728-4DB7F51EEAD6}"/>
              </a:ext>
            </a:extLst>
          </p:cNvPr>
          <p:cNvSpPr txBox="1"/>
          <p:nvPr/>
        </p:nvSpPr>
        <p:spPr>
          <a:xfrm>
            <a:off x="1353633" y="5536570"/>
            <a:ext cx="240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Latent variables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4698DF4-7D09-FA8C-BFCD-C3935025BBAB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2097964" y="5297877"/>
            <a:ext cx="0" cy="238693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E22D3C8-D0E9-6594-6819-CE32B158FD81}"/>
              </a:ext>
            </a:extLst>
          </p:cNvPr>
          <p:cNvSpPr txBox="1"/>
          <p:nvPr/>
        </p:nvSpPr>
        <p:spPr>
          <a:xfrm>
            <a:off x="3536232" y="4951750"/>
            <a:ext cx="240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Prior distributions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3547731-8C84-5479-4AEB-4175DB3A93B4}"/>
              </a:ext>
            </a:extLst>
          </p:cNvPr>
          <p:cNvCxnSpPr>
            <a:cxnSpLocks/>
          </p:cNvCxnSpPr>
          <p:nvPr/>
        </p:nvCxnSpPr>
        <p:spPr>
          <a:xfrm flipH="1">
            <a:off x="3430198" y="5136416"/>
            <a:ext cx="326497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939C6A3-5F51-2628-79CA-1E584F4F416B}"/>
              </a:ext>
            </a:extLst>
          </p:cNvPr>
          <p:cNvSpPr/>
          <p:nvPr/>
        </p:nvSpPr>
        <p:spPr>
          <a:xfrm>
            <a:off x="2601629" y="4120586"/>
            <a:ext cx="828569" cy="117729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8ECA610-26B9-B197-05C4-4CEB141CD262}"/>
              </a:ext>
            </a:extLst>
          </p:cNvPr>
          <p:cNvSpPr/>
          <p:nvPr/>
        </p:nvSpPr>
        <p:spPr>
          <a:xfrm>
            <a:off x="2598457" y="2753366"/>
            <a:ext cx="1345364" cy="47607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A30956-380B-224B-64E9-035617BD5316}"/>
              </a:ext>
            </a:extLst>
          </p:cNvPr>
          <p:cNvSpPr txBox="1"/>
          <p:nvPr/>
        </p:nvSpPr>
        <p:spPr>
          <a:xfrm>
            <a:off x="4290923" y="2806574"/>
            <a:ext cx="1648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Data Likelihood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3FBDA9D-6673-6810-12F3-1669D3846292}"/>
              </a:ext>
            </a:extLst>
          </p:cNvPr>
          <p:cNvCxnSpPr>
            <a:cxnSpLocks/>
          </p:cNvCxnSpPr>
          <p:nvPr/>
        </p:nvCxnSpPr>
        <p:spPr>
          <a:xfrm flipH="1">
            <a:off x="3935710" y="2991240"/>
            <a:ext cx="326497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D4770DC-2ECA-F001-3BC0-1751446A7C49}"/>
              </a:ext>
            </a:extLst>
          </p:cNvPr>
          <p:cNvSpPr txBox="1"/>
          <p:nvPr/>
        </p:nvSpPr>
        <p:spPr>
          <a:xfrm>
            <a:off x="679034" y="2788479"/>
            <a:ext cx="108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Data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ECC1050-B182-AD57-39A8-05E7BC4D048D}"/>
              </a:ext>
            </a:extLst>
          </p:cNvPr>
          <p:cNvSpPr/>
          <p:nvPr/>
        </p:nvSpPr>
        <p:spPr>
          <a:xfrm>
            <a:off x="1868814" y="2753366"/>
            <a:ext cx="475652" cy="47607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5DA5221-7B01-0DA7-3A40-BA31BC639A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1531265" y="2998029"/>
            <a:ext cx="326497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85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33FEF-046C-1313-386B-E17C6F634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5544BA-07CD-A6EA-836D-E949D99A2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The Power of Prior Distributions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987DBE-0FDC-19F2-B3F4-8E8B13F82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B04E-1A4D-BD4E-844E-3F1526DEA533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CEDB41-D281-ACF3-2375-EBCBD4902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18</a:t>
            </a:fld>
            <a:endParaRPr lang="en-GB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5D8E08-0512-9B89-A9B3-26285ECA66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657"/>
          <a:stretch/>
        </p:blipFill>
        <p:spPr>
          <a:xfrm>
            <a:off x="4806458" y="4891001"/>
            <a:ext cx="2922484" cy="1465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0BEE92-8273-3800-532C-60A6D8E7F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42" b="33315"/>
          <a:stretch/>
        </p:blipFill>
        <p:spPr>
          <a:xfrm>
            <a:off x="4821698" y="3290844"/>
            <a:ext cx="2922484" cy="14653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FD1AF1-F93C-F8BC-80BB-CE8AF88AFC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657"/>
          <a:stretch/>
        </p:blipFill>
        <p:spPr>
          <a:xfrm>
            <a:off x="4806458" y="1687340"/>
            <a:ext cx="2922484" cy="14653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24A39F-BBB7-11DC-868F-68562DDD2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644" y="2076857"/>
            <a:ext cx="1179704" cy="10758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A5F833-DFAC-F772-7DBA-76D124DE9765}"/>
              </a:ext>
            </a:extLst>
          </p:cNvPr>
          <p:cNvSpPr txBox="1"/>
          <p:nvPr/>
        </p:nvSpPr>
        <p:spPr>
          <a:xfrm>
            <a:off x="1049797" y="3815856"/>
            <a:ext cx="3706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Prior distributions encode </a:t>
            </a:r>
            <a:r>
              <a:rPr lang="en-US" b="1" dirty="0"/>
              <a:t>a-priori assumptions about the variables </a:t>
            </a:r>
            <a:r>
              <a:rPr lang="en-US" dirty="0"/>
              <a:t>before seeing any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545A86-21DB-9042-C5A4-1076B0035008}"/>
              </a:ext>
            </a:extLst>
          </p:cNvPr>
          <p:cNvSpPr txBox="1"/>
          <p:nvPr/>
        </p:nvSpPr>
        <p:spPr>
          <a:xfrm>
            <a:off x="7890755" y="2235348"/>
            <a:ext cx="370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”Values should be close to 0”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84058F-5E1E-0039-DFB2-F14BFF988287}"/>
              </a:ext>
            </a:extLst>
          </p:cNvPr>
          <p:cNvSpPr txBox="1"/>
          <p:nvPr/>
        </p:nvSpPr>
        <p:spPr>
          <a:xfrm>
            <a:off x="7890755" y="3815856"/>
            <a:ext cx="339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”Values could also be quite large”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941C19-2E58-A4A4-75EE-F34B5F511A44}"/>
              </a:ext>
            </a:extLst>
          </p:cNvPr>
          <p:cNvSpPr txBox="1"/>
          <p:nvPr/>
        </p:nvSpPr>
        <p:spPr>
          <a:xfrm>
            <a:off x="7890755" y="5439009"/>
            <a:ext cx="2922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”Values should (for whatever reason) be close to 2”</a:t>
            </a:r>
          </a:p>
        </p:txBody>
      </p:sp>
    </p:spTree>
    <p:extLst>
      <p:ext uri="{BB962C8B-B14F-4D97-AF65-F5344CB8AC3E}">
        <p14:creationId xmlns:p14="http://schemas.microsoft.com/office/powerpoint/2010/main" val="282077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709-C7D0-3AD8-A91C-58D8DEED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A08A28-F7FC-2FD9-51EE-496585B24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Bayes’ Theorem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D66F7A-A539-F028-0883-2CB8BFEB9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9EC9A-DEBF-F04C-8900-AFD10D4E4FCA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228FC9-A9F9-BABE-D777-854F0ECB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19</a:t>
            </a:fld>
            <a:endParaRPr lang="en-GB" noProof="1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F02B3A55-B191-5455-BBB8-316850320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855" y="2329672"/>
            <a:ext cx="1703421" cy="182669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6137CF-1DFA-A1BB-95C5-03C6425A7EA7}"/>
              </a:ext>
            </a:extLst>
          </p:cNvPr>
          <p:cNvSpPr txBox="1"/>
          <p:nvPr/>
        </p:nvSpPr>
        <p:spPr>
          <a:xfrm>
            <a:off x="1245140" y="4794036"/>
            <a:ext cx="36965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Thomas Bayes</a:t>
            </a:r>
          </a:p>
          <a:p>
            <a:pPr algn="ctr"/>
            <a:r>
              <a:rPr lang="en-US" dirty="0"/>
              <a:t>1701 – 1761</a:t>
            </a:r>
          </a:p>
          <a:p>
            <a:pPr algn="ctr"/>
            <a:r>
              <a:rPr lang="en-US" dirty="0"/>
              <a:t>Statistician and Presbyterian minister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5FC1D1-9EBD-B4CA-3972-A5F3DD6EA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046" y="3064167"/>
            <a:ext cx="4965700" cy="1092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2DA611-6B8C-7BC0-FDD1-7236E660EAF3}"/>
              </a:ext>
            </a:extLst>
          </p:cNvPr>
          <p:cNvSpPr txBox="1"/>
          <p:nvPr/>
        </p:nvSpPr>
        <p:spPr>
          <a:xfrm>
            <a:off x="5719864" y="2480830"/>
            <a:ext cx="1154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Posterior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629E1B-F0B7-9C11-9C97-7E035961D531}"/>
              </a:ext>
            </a:extLst>
          </p:cNvPr>
          <p:cNvSpPr txBox="1"/>
          <p:nvPr/>
        </p:nvSpPr>
        <p:spPr>
          <a:xfrm>
            <a:off x="9283970" y="2480830"/>
            <a:ext cx="1154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Prior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5F9E0F-5887-8499-9CB9-89848577644A}"/>
              </a:ext>
            </a:extLst>
          </p:cNvPr>
          <p:cNvSpPr txBox="1"/>
          <p:nvPr/>
        </p:nvSpPr>
        <p:spPr>
          <a:xfrm>
            <a:off x="7915616" y="2480830"/>
            <a:ext cx="136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Likelihood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DDD95-6D16-7587-AE10-7BFED20D1B2C}"/>
              </a:ext>
            </a:extLst>
          </p:cNvPr>
          <p:cNvSpPr txBox="1"/>
          <p:nvPr/>
        </p:nvSpPr>
        <p:spPr>
          <a:xfrm>
            <a:off x="7915616" y="4389165"/>
            <a:ext cx="2162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Marginal likelihood</a:t>
            </a:r>
          </a:p>
        </p:txBody>
      </p:sp>
    </p:spTree>
    <p:extLst>
      <p:ext uri="{BB962C8B-B14F-4D97-AF65-F5344CB8AC3E}">
        <p14:creationId xmlns:p14="http://schemas.microsoft.com/office/powerpoint/2010/main" val="490837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CDF55-DEBB-6C39-D0B9-0320CE92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11A1D5-EA27-31D8-546E-702185F75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Bayesian Inference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0196FA-F4F5-4CC4-CCF3-B8E2CE2ED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D8E76-BAB7-D644-A0D8-AD99AB600281}" type="datetime1">
              <a:rPr lang="en-GB" noProof="1" smtClean="0"/>
              <a:t>06/05/2026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DEF40-1C79-104F-90C2-AB18677B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20</a:t>
            </a:fld>
            <a:endParaRPr lang="en-GB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0FF582-A86F-7D92-1DA4-5F2BE299E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80505"/>
            <a:ext cx="3832768" cy="843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344CA2-413D-7625-EA6A-D639DD09BC8B}"/>
              </a:ext>
            </a:extLst>
          </p:cNvPr>
          <p:cNvSpPr txBox="1"/>
          <p:nvPr/>
        </p:nvSpPr>
        <p:spPr>
          <a:xfrm>
            <a:off x="627434" y="2210772"/>
            <a:ext cx="4742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Given the prior distribution and data likelihood, the posterior should be easy to compute...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F84263-F4D1-A96A-083F-D1DACDE9B49B}"/>
              </a:ext>
            </a:extLst>
          </p:cNvPr>
          <p:cNvCxnSpPr/>
          <p:nvPr/>
        </p:nvCxnSpPr>
        <p:spPr>
          <a:xfrm>
            <a:off x="2998551" y="3832698"/>
            <a:ext cx="124270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A243E5F-BE30-E5C1-EF52-44ED360B6D39}"/>
              </a:ext>
            </a:extLst>
          </p:cNvPr>
          <p:cNvSpPr txBox="1"/>
          <p:nvPr/>
        </p:nvSpPr>
        <p:spPr>
          <a:xfrm>
            <a:off x="1248788" y="4162254"/>
            <a:ext cx="4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Computationally not tractable </a:t>
            </a:r>
            <a:r>
              <a:rPr lang="en-US" dirty="0">
                <a:solidFill>
                  <a:srgbClr val="C00000"/>
                </a:solidFill>
              </a:rPr>
              <a:t>😭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54E4C8-5317-C91F-D2F9-67C43D473702}"/>
              </a:ext>
            </a:extLst>
          </p:cNvPr>
          <p:cNvSpPr txBox="1"/>
          <p:nvPr/>
        </p:nvSpPr>
        <p:spPr>
          <a:xfrm>
            <a:off x="5518755" y="3520129"/>
            <a:ext cx="4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Solution: </a:t>
            </a:r>
            <a:r>
              <a:rPr lang="en-US" b="1" dirty="0"/>
              <a:t>Approximate inference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40600E-03E9-97B1-BD29-A0EF46E8F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144" y="4166461"/>
            <a:ext cx="2437456" cy="3651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FC7DFC-307B-2A71-9E38-2F71415A9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705" y="4986022"/>
            <a:ext cx="6252757" cy="34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64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3332</TotalTime>
  <Words>1008</Words>
  <Application>Microsoft Macintosh PowerPoint</Application>
  <PresentationFormat>Widescreen</PresentationFormat>
  <Paragraphs>325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Wingdings</vt:lpstr>
      <vt:lpstr>Office Theme</vt:lpstr>
      <vt:lpstr>Practical Session: MOFA Data Integration</vt:lpstr>
      <vt:lpstr>Data Handling </vt:lpstr>
      <vt:lpstr>From the Sequencing Machine to Count Matrices</vt:lpstr>
      <vt:lpstr>How to Represent Count Matrices (in Python) </vt:lpstr>
      <vt:lpstr>AnnData</vt:lpstr>
      <vt:lpstr>How to Create Your Own AnnData Object</vt:lpstr>
      <vt:lpstr>The CLL Data Set</vt:lpstr>
      <vt:lpstr>Factor Models and MOFA</vt:lpstr>
      <vt:lpstr>Omics Data is High-Dimensional</vt:lpstr>
      <vt:lpstr>The Curse of Dimensionality</vt:lpstr>
      <vt:lpstr>Dimensionality Reduction Methods</vt:lpstr>
      <vt:lpstr>What is a Factor Model Intuitively?</vt:lpstr>
      <vt:lpstr>An Example: Movie Recommendations</vt:lpstr>
      <vt:lpstr>What is a Factor Model Mathematically?</vt:lpstr>
      <vt:lpstr>Multi-Omics Factor Analysis (MOFA)</vt:lpstr>
      <vt:lpstr>MOFA Downstream analysis</vt:lpstr>
      <vt:lpstr>Gene Set Enrichment Analysis (GSEA)</vt:lpstr>
      <vt:lpstr>Bayesian Latent Variable Models</vt:lpstr>
      <vt:lpstr>The Power of Prior Distributions</vt:lpstr>
      <vt:lpstr>Bayes’ Theorem</vt:lpstr>
      <vt:lpstr>Bayesian Inference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Florin W</dc:creator>
  <cp:lastModifiedBy>Florin W</cp:lastModifiedBy>
  <cp:revision>15</cp:revision>
  <dcterms:created xsi:type="dcterms:W3CDTF">2025-02-12T06:31:34Z</dcterms:created>
  <dcterms:modified xsi:type="dcterms:W3CDTF">2026-05-06T11:36:33Z</dcterms:modified>
</cp:coreProperties>
</file>